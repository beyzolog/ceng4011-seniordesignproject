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9.jpg" ContentType="image/jpg"/>
  <Override PartName="/ppt/media/image10.jpg" ContentType="image/jpg"/>
  <Override PartName="/ppt/media/image11.jpg" ContentType="image/jpg"/>
  <Override PartName="/ppt/notesSlides/notesSlide2.xml" ContentType="application/vnd.openxmlformats-officedocument.presentationml.notesSlide+xml"/>
  <Override PartName="/ppt/media/image16.jpg" ContentType="image/jpg"/>
  <Override PartName="/ppt/media/image17.jpg" ContentType="image/jpg"/>
  <Override PartName="/ppt/media/image18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62" y="12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F34C2-9ACE-4C68-9E82-D749827E37B1}" type="datetimeFigureOut">
              <a:rPr lang="tr-TR" smtClean="0"/>
              <a:t>12.01.2026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59F3-96BE-468C-A5F2-FCE21905986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63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859F3-96BE-468C-A5F2-FCE21905986E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9271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7859F3-96BE-468C-A5F2-FCE21905986E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78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65037" y="2307519"/>
            <a:ext cx="7546340" cy="6268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131137" y="2307519"/>
            <a:ext cx="7514590" cy="5017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7742" y="258535"/>
            <a:ext cx="15279714" cy="1650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3.jpg"/><Relationship Id="rId7" Type="http://schemas.openxmlformats.org/officeDocument/2006/relationships/image" Target="../media/image37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jpg"/><Relationship Id="rId11" Type="http://schemas.openxmlformats.org/officeDocument/2006/relationships/image" Target="../media/image41.jpg"/><Relationship Id="rId5" Type="http://schemas.openxmlformats.org/officeDocument/2006/relationships/image" Target="../media/image35.jpg"/><Relationship Id="rId10" Type="http://schemas.openxmlformats.org/officeDocument/2006/relationships/image" Target="../media/image40.jpg"/><Relationship Id="rId4" Type="http://schemas.openxmlformats.org/officeDocument/2006/relationships/image" Target="../media/image34.png"/><Relationship Id="rId9" Type="http://schemas.openxmlformats.org/officeDocument/2006/relationships/image" Target="../media/image39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>
            <a:extLst>
              <a:ext uri="{FF2B5EF4-FFF2-40B4-BE49-F238E27FC236}">
                <a16:creationId xmlns:a16="http://schemas.microsoft.com/office/drawing/2014/main" id="{9392C1F5-6D6C-8949-9B0A-CDCB96F78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0" y="1826780"/>
            <a:ext cx="7332680" cy="733268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8763" y="767997"/>
            <a:ext cx="12238437" cy="2117567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2540" algn="l">
              <a:lnSpc>
                <a:spcPct val="96900"/>
              </a:lnSpc>
              <a:spcBef>
                <a:spcPts val="275"/>
              </a:spcBef>
              <a:tabLst>
                <a:tab pos="3662679" algn="l"/>
              </a:tabLst>
            </a:pPr>
            <a:r>
              <a:rPr sz="4650" dirty="0">
                <a:solidFill>
                  <a:srgbClr val="012A50"/>
                </a:solidFill>
                <a:latin typeface="Arial MT"/>
                <a:cs typeface="Arial MT"/>
              </a:rPr>
              <a:t>Machine</a:t>
            </a:r>
            <a:r>
              <a:rPr sz="4650" spc="250" dirty="0">
                <a:solidFill>
                  <a:srgbClr val="012A50"/>
                </a:solidFill>
                <a:latin typeface="Arial MT"/>
                <a:cs typeface="Arial MT"/>
              </a:rPr>
              <a:t> </a:t>
            </a:r>
            <a:r>
              <a:rPr sz="4650" spc="80" dirty="0">
                <a:solidFill>
                  <a:srgbClr val="012444"/>
                </a:solidFill>
                <a:latin typeface="Arial MT"/>
                <a:cs typeface="Arial MT"/>
              </a:rPr>
              <a:t>Learning-</a:t>
            </a:r>
            <a:r>
              <a:rPr sz="4650" spc="100" dirty="0">
                <a:solidFill>
                  <a:srgbClr val="012444"/>
                </a:solidFill>
                <a:latin typeface="Arial MT"/>
                <a:cs typeface="Arial MT"/>
              </a:rPr>
              <a:t>Based</a:t>
            </a:r>
            <a:r>
              <a:rPr sz="4650" spc="-175" dirty="0">
                <a:solidFill>
                  <a:srgbClr val="012444"/>
                </a:solidFill>
                <a:latin typeface="Arial MT"/>
                <a:cs typeface="Arial MT"/>
              </a:rPr>
              <a:t> </a:t>
            </a:r>
            <a:r>
              <a:rPr sz="4650" spc="-20" dirty="0">
                <a:solidFill>
                  <a:srgbClr val="012444"/>
                </a:solidFill>
                <a:latin typeface="Arial MT"/>
                <a:cs typeface="Arial MT"/>
              </a:rPr>
              <a:t>Drug </a:t>
            </a:r>
            <a:r>
              <a:rPr sz="4550" spc="110" dirty="0">
                <a:solidFill>
                  <a:srgbClr val="052D52"/>
                </a:solidFill>
                <a:latin typeface="Arial MT"/>
                <a:cs typeface="Arial MT"/>
              </a:rPr>
              <a:t>Repurposing</a:t>
            </a:r>
            <a:r>
              <a:rPr sz="4550" spc="480" dirty="0">
                <a:solidFill>
                  <a:srgbClr val="052D52"/>
                </a:solidFill>
                <a:latin typeface="Arial MT"/>
                <a:cs typeface="Arial MT"/>
              </a:rPr>
              <a:t> </a:t>
            </a:r>
            <a:r>
              <a:rPr sz="4550" spc="110" dirty="0">
                <a:solidFill>
                  <a:srgbClr val="032448"/>
                </a:solidFill>
                <a:latin typeface="Arial MT"/>
                <a:cs typeface="Arial MT"/>
              </a:rPr>
              <a:t>Discovery</a:t>
            </a:r>
            <a:r>
              <a:rPr sz="4550" spc="335" dirty="0">
                <a:solidFill>
                  <a:srgbClr val="032448"/>
                </a:solidFill>
                <a:latin typeface="Arial MT"/>
                <a:cs typeface="Arial MT"/>
              </a:rPr>
              <a:t> </a:t>
            </a:r>
            <a:r>
              <a:rPr sz="4550" spc="165" dirty="0">
                <a:solidFill>
                  <a:srgbClr val="05284D"/>
                </a:solidFill>
                <a:latin typeface="Arial MT"/>
                <a:cs typeface="Arial MT"/>
              </a:rPr>
              <a:t>for </a:t>
            </a:r>
            <a:r>
              <a:rPr sz="4650" dirty="0">
                <a:solidFill>
                  <a:srgbClr val="032B4F"/>
                </a:solidFill>
                <a:latin typeface="Arial MT"/>
                <a:cs typeface="Arial MT"/>
              </a:rPr>
              <a:t>Disordered</a:t>
            </a:r>
            <a:r>
              <a:rPr sz="4650" spc="520" dirty="0">
                <a:solidFill>
                  <a:srgbClr val="032B4F"/>
                </a:solidFill>
                <a:latin typeface="Arial MT"/>
                <a:cs typeface="Arial MT"/>
              </a:rPr>
              <a:t> </a:t>
            </a:r>
            <a:r>
              <a:rPr sz="4650" spc="65" dirty="0">
                <a:solidFill>
                  <a:srgbClr val="052A4D"/>
                </a:solidFill>
                <a:latin typeface="Arial MT"/>
                <a:cs typeface="Arial MT"/>
              </a:rPr>
              <a:t>(Non-</a:t>
            </a:r>
            <a:r>
              <a:rPr sz="4650" spc="60" dirty="0">
                <a:solidFill>
                  <a:srgbClr val="052A4D"/>
                </a:solidFill>
                <a:latin typeface="Arial MT"/>
                <a:cs typeface="Arial MT"/>
              </a:rPr>
              <a:t>Globular)</a:t>
            </a:r>
            <a:r>
              <a:rPr sz="4650" spc="35" dirty="0">
                <a:solidFill>
                  <a:srgbClr val="052A4D"/>
                </a:solidFill>
                <a:latin typeface="Arial MT"/>
                <a:cs typeface="Arial MT"/>
              </a:rPr>
              <a:t> </a:t>
            </a:r>
            <a:r>
              <a:rPr sz="4650" spc="-25" dirty="0">
                <a:solidFill>
                  <a:srgbClr val="012850"/>
                </a:solidFill>
                <a:latin typeface="Arial MT"/>
                <a:cs typeface="Arial MT"/>
              </a:rPr>
              <a:t>MYC </a:t>
            </a:r>
            <a:r>
              <a:rPr sz="4550" spc="70" dirty="0">
                <a:solidFill>
                  <a:srgbClr val="00213F"/>
                </a:solidFill>
                <a:latin typeface="Arial MT"/>
                <a:cs typeface="Arial MT"/>
              </a:rPr>
              <a:t>and</a:t>
            </a:r>
            <a:r>
              <a:rPr lang="tr-TR" sz="4550" spc="70" dirty="0">
                <a:solidFill>
                  <a:srgbClr val="00213F"/>
                </a:solidFill>
                <a:latin typeface="Arial MT"/>
                <a:cs typeface="Arial MT"/>
              </a:rPr>
              <a:t> CTNNB1 </a:t>
            </a:r>
            <a:r>
              <a:rPr sz="4550" spc="125" dirty="0">
                <a:solidFill>
                  <a:srgbClr val="01284F"/>
                </a:solidFill>
                <a:latin typeface="Arial MT"/>
                <a:cs typeface="Arial MT"/>
              </a:rPr>
              <a:t>Oncoproteins</a:t>
            </a:r>
            <a:endParaRPr sz="45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9351" y="3442697"/>
            <a:ext cx="823468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30" dirty="0">
                <a:solidFill>
                  <a:srgbClr val="343434"/>
                </a:solidFill>
                <a:latin typeface="Cambria"/>
                <a:cs typeface="Cambria"/>
              </a:rPr>
              <a:t>Computer</a:t>
            </a:r>
            <a:r>
              <a:rPr sz="3100" spc="-4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3100" i="1" spc="-40" dirty="0">
                <a:solidFill>
                  <a:srgbClr val="363636"/>
                </a:solidFill>
                <a:latin typeface="Cambria"/>
                <a:cs typeface="Cambria"/>
              </a:rPr>
              <a:t>Engineering</a:t>
            </a:r>
            <a:r>
              <a:rPr sz="3100" i="1" spc="-55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3100" i="1" spc="-55" dirty="0">
                <a:solidFill>
                  <a:srgbClr val="383838"/>
                </a:solidFill>
                <a:latin typeface="Cambria"/>
                <a:cs typeface="Cambria"/>
              </a:rPr>
              <a:t>Senior</a:t>
            </a:r>
            <a:r>
              <a:rPr sz="3100" i="1" spc="10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3100" i="1" spc="-45" dirty="0">
                <a:solidFill>
                  <a:srgbClr val="363636"/>
                </a:solidFill>
                <a:latin typeface="Cambria"/>
                <a:cs typeface="Cambria"/>
              </a:rPr>
              <a:t>Design</a:t>
            </a:r>
            <a:r>
              <a:rPr sz="3100" i="1" spc="-114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3100" i="1" spc="-75" dirty="0">
                <a:solidFill>
                  <a:srgbClr val="363636"/>
                </a:solidFill>
                <a:latin typeface="Cambria"/>
                <a:cs typeface="Cambria"/>
              </a:rPr>
              <a:t>Project</a:t>
            </a:r>
            <a:endParaRPr sz="31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351" y="4350836"/>
            <a:ext cx="7525163" cy="40119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560"/>
              </a:lnSpc>
              <a:spcBef>
                <a:spcPts val="125"/>
              </a:spcBef>
            </a:pPr>
            <a:r>
              <a:rPr lang="tr-TR" sz="3200" spc="-65" dirty="0">
                <a:latin typeface="Cambria"/>
                <a:cs typeface="Cambria"/>
              </a:rPr>
              <a:t>Author: </a:t>
            </a:r>
            <a:r>
              <a:rPr sz="3200" spc="-65" dirty="0">
                <a:latin typeface="Cambria"/>
                <a:cs typeface="Cambria"/>
              </a:rPr>
              <a:t>Beyza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Yörük</a:t>
            </a:r>
            <a:endParaRPr lang="tr-TR" sz="3200" spc="-10" dirty="0"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  <a:spcBef>
                <a:spcPts val="125"/>
              </a:spcBef>
            </a:pPr>
            <a:r>
              <a:rPr lang="tr-TR" sz="2400" dirty="0"/>
              <a:t>beyzayoruk@posta.mu.edu.tr</a:t>
            </a:r>
            <a:endParaRPr lang="tr-TR" sz="2400" spc="-10" dirty="0"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  <a:spcBef>
                <a:spcPts val="125"/>
              </a:spcBef>
            </a:pPr>
            <a:endParaRPr sz="3100" dirty="0">
              <a:latin typeface="Cambria"/>
              <a:cs typeface="Cambria"/>
            </a:endParaRPr>
          </a:p>
          <a:p>
            <a:pPr marL="12700">
              <a:lnSpc>
                <a:spcPts val="3560"/>
              </a:lnSpc>
            </a:pPr>
            <a:r>
              <a:rPr sz="3200" spc="-75" dirty="0">
                <a:latin typeface="Cambria"/>
                <a:cs typeface="Cambria"/>
              </a:rPr>
              <a:t>Advisor: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Assoc.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45" dirty="0">
                <a:latin typeface="Cambria"/>
                <a:cs typeface="Cambria"/>
              </a:rPr>
              <a:t>Prof.</a:t>
            </a:r>
            <a:r>
              <a:rPr sz="3200" spc="-85" dirty="0">
                <a:latin typeface="Cambria"/>
                <a:cs typeface="Cambria"/>
              </a:rPr>
              <a:t> </a:t>
            </a:r>
            <a:r>
              <a:rPr sz="3200" spc="-30" dirty="0">
                <a:latin typeface="Cambria"/>
                <a:cs typeface="Cambria"/>
              </a:rPr>
              <a:t>Dr.</a:t>
            </a:r>
            <a:r>
              <a:rPr sz="3200" spc="-145" dirty="0">
                <a:latin typeface="Cambria"/>
                <a:cs typeface="Cambria"/>
              </a:rPr>
              <a:t> </a:t>
            </a:r>
            <a:r>
              <a:rPr sz="3200" spc="-70" dirty="0">
                <a:latin typeface="Cambria"/>
                <a:cs typeface="Cambria"/>
              </a:rPr>
              <a:t>Tugba</a:t>
            </a:r>
            <a:r>
              <a:rPr sz="3200" spc="-100" dirty="0">
                <a:latin typeface="Cambria"/>
                <a:cs typeface="Cambria"/>
              </a:rPr>
              <a:t> </a:t>
            </a:r>
            <a:r>
              <a:rPr sz="3200" spc="-60" dirty="0">
                <a:latin typeface="Cambria"/>
                <a:cs typeface="Cambria"/>
              </a:rPr>
              <a:t>Önal</a:t>
            </a:r>
            <a:r>
              <a:rPr sz="3200" spc="-11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SÜZEK</a:t>
            </a:r>
            <a:endParaRPr lang="tr-TR" sz="3200" spc="-10" dirty="0">
              <a:latin typeface="Cambria"/>
              <a:cs typeface="Cambria"/>
            </a:endParaRPr>
          </a:p>
          <a:p>
            <a:r>
              <a:rPr lang="en-US" sz="3600" dirty="0" err="1"/>
              <a:t>Muğla</a:t>
            </a:r>
            <a:r>
              <a:rPr lang="en-US" sz="3600" dirty="0"/>
              <a:t> </a:t>
            </a:r>
            <a:r>
              <a:rPr lang="en-US" sz="3600" dirty="0" err="1"/>
              <a:t>Sıtkı</a:t>
            </a:r>
            <a:r>
              <a:rPr lang="en-US" sz="3600" dirty="0"/>
              <a:t> </a:t>
            </a:r>
            <a:r>
              <a:rPr lang="en-US" sz="3600" dirty="0" err="1"/>
              <a:t>Koçman</a:t>
            </a:r>
            <a:r>
              <a:rPr lang="en-US" sz="3600" dirty="0"/>
              <a:t> University</a:t>
            </a:r>
          </a:p>
          <a:p>
            <a:r>
              <a:rPr lang="en-US" sz="3600" dirty="0"/>
              <a:t>Department of Computer Engineering </a:t>
            </a:r>
          </a:p>
          <a:p>
            <a:pPr marL="12700">
              <a:lnSpc>
                <a:spcPts val="3560"/>
              </a:lnSpc>
            </a:pPr>
            <a:endParaRPr sz="3100" dirty="0">
              <a:latin typeface="Cambria"/>
              <a:cs typeface="Cambria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628748D2-768B-D183-7BB8-39EAB0C0A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166" y="752957"/>
            <a:ext cx="884637" cy="1421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0" y="3365500"/>
            <a:ext cx="3048000" cy="3035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6200" y="3365500"/>
            <a:ext cx="3035300" cy="3035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3365500"/>
            <a:ext cx="3022600" cy="3035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36600" y="3365500"/>
            <a:ext cx="3035300" cy="30353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41426" y="371827"/>
            <a:ext cx="3108325" cy="935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950" spc="-170" dirty="0">
                <a:solidFill>
                  <a:srgbClr val="133859"/>
                </a:solidFill>
                <a:latin typeface="Arial MT"/>
                <a:cs typeface="Arial MT"/>
              </a:rPr>
              <a:t>Summary</a:t>
            </a:r>
            <a:endParaRPr sz="5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0930" y="1612547"/>
            <a:ext cx="1525841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50" dirty="0">
                <a:latin typeface="Cambria"/>
                <a:cs typeface="Cambria"/>
              </a:rPr>
              <a:t>An</a:t>
            </a:r>
            <a:r>
              <a:rPr sz="3400" spc="-114" dirty="0">
                <a:latin typeface="Cambria"/>
                <a:cs typeface="Cambria"/>
              </a:rPr>
              <a:t> </a:t>
            </a:r>
            <a:r>
              <a:rPr sz="3400" spc="-145" dirty="0">
                <a:latin typeface="Cambria"/>
                <a:cs typeface="Cambria"/>
              </a:rPr>
              <a:t>innovative</a:t>
            </a:r>
            <a:r>
              <a:rPr sz="3400" spc="-45" dirty="0">
                <a:latin typeface="Cambria"/>
                <a:cs typeface="Cambria"/>
              </a:rPr>
              <a:t> </a:t>
            </a:r>
            <a:r>
              <a:rPr sz="3400" spc="-114" dirty="0">
                <a:latin typeface="Cambria"/>
                <a:cs typeface="Cambria"/>
              </a:rPr>
              <a:t>computational</a:t>
            </a:r>
            <a:r>
              <a:rPr sz="3400" spc="-70" dirty="0">
                <a:latin typeface="Cambria"/>
                <a:cs typeface="Cambria"/>
              </a:rPr>
              <a:t> </a:t>
            </a:r>
            <a:r>
              <a:rPr sz="3400" spc="-150" dirty="0">
                <a:latin typeface="Cambria"/>
                <a:cs typeface="Cambria"/>
              </a:rPr>
              <a:t>approach</a:t>
            </a:r>
            <a:r>
              <a:rPr sz="3400" spc="45" dirty="0">
                <a:latin typeface="Cambria"/>
                <a:cs typeface="Cambria"/>
              </a:rPr>
              <a:t> </a:t>
            </a:r>
            <a:r>
              <a:rPr sz="3400" spc="-100" dirty="0">
                <a:latin typeface="Cambria"/>
                <a:cs typeface="Cambria"/>
              </a:rPr>
              <a:t>to</a:t>
            </a:r>
            <a:r>
              <a:rPr sz="3400" spc="-145" dirty="0">
                <a:latin typeface="Cambria"/>
                <a:cs typeface="Cambria"/>
              </a:rPr>
              <a:t> bridge</a:t>
            </a:r>
            <a:r>
              <a:rPr sz="3400" spc="-20" dirty="0">
                <a:latin typeface="Cambria"/>
                <a:cs typeface="Cambria"/>
              </a:rPr>
              <a:t> </a:t>
            </a:r>
            <a:r>
              <a:rPr sz="3400" spc="-135" dirty="0">
                <a:latin typeface="Cambria"/>
                <a:cs typeface="Cambria"/>
              </a:rPr>
              <a:t>the</a:t>
            </a:r>
            <a:r>
              <a:rPr sz="3400" spc="-105" dirty="0">
                <a:latin typeface="Cambria"/>
                <a:cs typeface="Cambria"/>
              </a:rPr>
              <a:t> </a:t>
            </a:r>
            <a:r>
              <a:rPr sz="3400" spc="-120" dirty="0">
                <a:latin typeface="Cambria"/>
                <a:cs typeface="Cambria"/>
              </a:rPr>
              <a:t>gap</a:t>
            </a:r>
            <a:r>
              <a:rPr sz="3400" spc="-70" dirty="0">
                <a:latin typeface="Cambria"/>
                <a:cs typeface="Cambria"/>
              </a:rPr>
              <a:t> </a:t>
            </a:r>
            <a:r>
              <a:rPr sz="3400" spc="-114" dirty="0">
                <a:latin typeface="Cambria"/>
                <a:cs typeface="Cambria"/>
              </a:rPr>
              <a:t>for</a:t>
            </a:r>
            <a:r>
              <a:rPr sz="3400" spc="-70" dirty="0">
                <a:latin typeface="Cambria"/>
                <a:cs typeface="Cambria"/>
              </a:rPr>
              <a:t> </a:t>
            </a:r>
            <a:r>
              <a:rPr sz="3400" spc="-95" dirty="0">
                <a:latin typeface="Cambria"/>
                <a:cs typeface="Cambria"/>
              </a:rPr>
              <a:t>'undruggable’</a:t>
            </a:r>
            <a:r>
              <a:rPr sz="3400" spc="125" dirty="0">
                <a:latin typeface="Cambria"/>
                <a:cs typeface="Cambria"/>
              </a:rPr>
              <a:t> </a:t>
            </a:r>
            <a:r>
              <a:rPr sz="3400" spc="-105" dirty="0">
                <a:latin typeface="Cambria"/>
                <a:cs typeface="Cambria"/>
              </a:rPr>
              <a:t>cancer</a:t>
            </a:r>
            <a:r>
              <a:rPr sz="3400" spc="10" dirty="0">
                <a:latin typeface="Cambria"/>
                <a:cs typeface="Cambria"/>
              </a:rPr>
              <a:t> </a:t>
            </a:r>
            <a:r>
              <a:rPr sz="3400" spc="-65" dirty="0">
                <a:latin typeface="Cambria"/>
                <a:cs typeface="Cambria"/>
              </a:rPr>
              <a:t>targets.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3122" y="2674055"/>
            <a:ext cx="649795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56075" algn="l"/>
              </a:tabLst>
            </a:pPr>
            <a:r>
              <a:rPr sz="3200" dirty="0">
                <a:solidFill>
                  <a:srgbClr val="153857"/>
                </a:solidFill>
                <a:latin typeface="Cambria"/>
                <a:cs typeface="Cambria"/>
              </a:rPr>
              <a:t>The</a:t>
            </a:r>
            <a:r>
              <a:rPr sz="3200" spc="434" dirty="0">
                <a:solidFill>
                  <a:srgbClr val="153857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133D64"/>
                </a:solidFill>
                <a:latin typeface="Cambria"/>
                <a:cs typeface="Cambria"/>
              </a:rPr>
              <a:t>Problem</a:t>
            </a:r>
            <a:r>
              <a:rPr sz="3200" dirty="0">
                <a:solidFill>
                  <a:srgbClr val="133D64"/>
                </a:solidFill>
                <a:latin typeface="Cambria"/>
                <a:cs typeface="Cambria"/>
              </a:rPr>
              <a:t>	</a:t>
            </a:r>
            <a:r>
              <a:rPr sz="3200" dirty="0">
                <a:solidFill>
                  <a:srgbClr val="1A3854"/>
                </a:solidFill>
                <a:latin typeface="Arial MT"/>
                <a:cs typeface="Arial MT"/>
              </a:rPr>
              <a:t>The</a:t>
            </a:r>
            <a:r>
              <a:rPr sz="3200" spc="-85" dirty="0">
                <a:solidFill>
                  <a:srgbClr val="1A3854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3314D"/>
                </a:solidFill>
                <a:latin typeface="Arial MT"/>
                <a:cs typeface="Arial MT"/>
              </a:rPr>
              <a:t>Solution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3162" y="6653035"/>
            <a:ext cx="235839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160" dirty="0">
                <a:solidFill>
                  <a:srgbClr val="133656"/>
                </a:solidFill>
                <a:latin typeface="Calibri"/>
                <a:cs typeface="Calibri"/>
              </a:rPr>
              <a:t>The</a:t>
            </a:r>
            <a:r>
              <a:rPr sz="3250" spc="95" dirty="0">
                <a:solidFill>
                  <a:srgbClr val="133656"/>
                </a:solidFill>
                <a:latin typeface="Calibri"/>
                <a:cs typeface="Calibri"/>
              </a:rPr>
              <a:t> </a:t>
            </a:r>
            <a:r>
              <a:rPr sz="3250" spc="110" dirty="0">
                <a:solidFill>
                  <a:srgbClr val="0F3154"/>
                </a:solidFill>
                <a:latin typeface="Calibri"/>
                <a:cs typeface="Calibri"/>
              </a:rPr>
              <a:t>Problem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8117" y="7566730"/>
            <a:ext cx="3001010" cy="11512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182245" algn="ctr">
              <a:lnSpc>
                <a:spcPct val="90800"/>
              </a:lnSpc>
              <a:spcBef>
                <a:spcPts val="400"/>
              </a:spcBef>
            </a:pPr>
            <a:r>
              <a:rPr sz="2550" spc="60" dirty="0">
                <a:latin typeface="Cambria"/>
                <a:cs typeface="Cambria"/>
              </a:rPr>
              <a:t>MYC</a:t>
            </a:r>
            <a:r>
              <a:rPr sz="2550" spc="-130" dirty="0">
                <a:latin typeface="Cambria"/>
                <a:cs typeface="Cambria"/>
              </a:rPr>
              <a:t> </a:t>
            </a:r>
            <a:r>
              <a:rPr sz="2550" spc="-195" dirty="0">
                <a:latin typeface="Cambria"/>
                <a:cs typeface="Cambria"/>
              </a:rPr>
              <a:t>&amp;</a:t>
            </a:r>
            <a:r>
              <a:rPr sz="2550" spc="-75" dirty="0">
                <a:latin typeface="Cambria"/>
                <a:cs typeface="Cambria"/>
              </a:rPr>
              <a:t> </a:t>
            </a:r>
            <a:r>
              <a:rPr sz="2550" spc="-100" dirty="0">
                <a:latin typeface="Cambria"/>
                <a:cs typeface="Cambria"/>
              </a:rPr>
              <a:t>CTNNB1 </a:t>
            </a:r>
            <a:r>
              <a:rPr sz="2550" spc="-55" dirty="0">
                <a:latin typeface="Cambria"/>
                <a:cs typeface="Cambria"/>
              </a:rPr>
              <a:t>are</a:t>
            </a:r>
            <a:r>
              <a:rPr sz="2550" spc="-30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'undruggable’</a:t>
            </a:r>
            <a:r>
              <a:rPr lang="tr-TR" sz="2600" spc="345" dirty="0">
                <a:latin typeface="Cambria"/>
                <a:cs typeface="Cambria"/>
              </a:rPr>
              <a:t> </a:t>
            </a:r>
            <a:r>
              <a:rPr sz="2600" spc="-85" dirty="0">
                <a:latin typeface="Cambria"/>
                <a:cs typeface="Cambria"/>
              </a:rPr>
              <a:t>IDPs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700" spc="-75" dirty="0">
                <a:latin typeface="Cambria"/>
                <a:cs typeface="Cambria"/>
              </a:rPr>
              <a:t>lacking</a:t>
            </a:r>
            <a:r>
              <a:rPr sz="2700" spc="-15" dirty="0">
                <a:latin typeface="Cambria"/>
                <a:cs typeface="Cambria"/>
              </a:rPr>
              <a:t> </a:t>
            </a:r>
            <a:r>
              <a:rPr sz="2700" spc="-110" dirty="0">
                <a:latin typeface="Cambria"/>
                <a:cs typeface="Cambria"/>
              </a:rPr>
              <a:t>stable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20" dirty="0">
                <a:latin typeface="Cambria"/>
                <a:cs typeface="Cambria"/>
              </a:rPr>
              <a:t>pockets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75167" y="4771319"/>
            <a:ext cx="2762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235" dirty="0">
                <a:solidFill>
                  <a:srgbClr val="5B6E77"/>
                </a:solidFill>
                <a:latin typeface="Cambria"/>
                <a:cs typeface="Cambria"/>
              </a:rPr>
              <a:t>1</a:t>
            </a:r>
            <a:r>
              <a:rPr sz="1150" spc="-35" dirty="0">
                <a:solidFill>
                  <a:srgbClr val="5B6E77"/>
                </a:solidFill>
                <a:latin typeface="Cambria"/>
                <a:cs typeface="Cambria"/>
              </a:rPr>
              <a:t> </a:t>
            </a:r>
            <a:r>
              <a:rPr sz="1150" spc="-25" dirty="0">
                <a:solidFill>
                  <a:srgbClr val="383838"/>
                </a:solidFill>
                <a:latin typeface="Cambria"/>
                <a:cs typeface="Cambria"/>
              </a:rPr>
              <a:t>01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3753" y="2656416"/>
            <a:ext cx="632968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304665" algn="l"/>
              </a:tabLst>
            </a:pPr>
            <a:r>
              <a:rPr sz="3300" spc="50" dirty="0">
                <a:solidFill>
                  <a:srgbClr val="113B5B"/>
                </a:solidFill>
                <a:latin typeface="Cambria"/>
                <a:cs typeface="Cambria"/>
              </a:rPr>
              <a:t>The</a:t>
            </a:r>
            <a:r>
              <a:rPr sz="3300" spc="135" dirty="0">
                <a:solidFill>
                  <a:srgbClr val="113B5B"/>
                </a:solidFill>
                <a:latin typeface="Cambria"/>
                <a:cs typeface="Cambria"/>
              </a:rPr>
              <a:t> </a:t>
            </a:r>
            <a:r>
              <a:rPr sz="3300" spc="90" dirty="0">
                <a:solidFill>
                  <a:srgbClr val="0F3A5D"/>
                </a:solidFill>
                <a:latin typeface="Cambria"/>
                <a:cs typeface="Cambria"/>
              </a:rPr>
              <a:t>Process</a:t>
            </a:r>
            <a:r>
              <a:rPr sz="3300" dirty="0">
                <a:solidFill>
                  <a:srgbClr val="0F3A5D"/>
                </a:solidFill>
                <a:latin typeface="Cambria"/>
                <a:cs typeface="Cambria"/>
              </a:rPr>
              <a:t>	</a:t>
            </a:r>
            <a:r>
              <a:rPr sz="3300" dirty="0">
                <a:solidFill>
                  <a:srgbClr val="133A5D"/>
                </a:solidFill>
                <a:latin typeface="Cambria"/>
                <a:cs typeface="Cambria"/>
              </a:rPr>
              <a:t>The</a:t>
            </a:r>
            <a:r>
              <a:rPr sz="3300" spc="125" dirty="0">
                <a:solidFill>
                  <a:srgbClr val="133A5D"/>
                </a:solidFill>
                <a:latin typeface="Cambria"/>
                <a:cs typeface="Cambria"/>
              </a:rPr>
              <a:t> </a:t>
            </a:r>
            <a:r>
              <a:rPr sz="3300" spc="-40" dirty="0">
                <a:solidFill>
                  <a:srgbClr val="15344F"/>
                </a:solidFill>
                <a:latin typeface="Cambria"/>
                <a:cs typeface="Cambria"/>
              </a:rPr>
              <a:t>Impact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6891" y="6661855"/>
            <a:ext cx="23539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162F4B"/>
                </a:solidFill>
                <a:latin typeface="Arial MT"/>
                <a:cs typeface="Arial MT"/>
              </a:rPr>
              <a:t>The</a:t>
            </a:r>
            <a:r>
              <a:rPr sz="3200" spc="-75" dirty="0">
                <a:solidFill>
                  <a:srgbClr val="162F4B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1344F"/>
                </a:solidFill>
                <a:latin typeface="Arial MT"/>
                <a:cs typeface="Arial MT"/>
              </a:rPr>
              <a:t>Solution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42491" y="6661855"/>
            <a:ext cx="230949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F314F"/>
                </a:solidFill>
                <a:latin typeface="Arial MT"/>
                <a:cs typeface="Arial MT"/>
              </a:rPr>
              <a:t>The</a:t>
            </a:r>
            <a:r>
              <a:rPr sz="3200" spc="-75" dirty="0">
                <a:solidFill>
                  <a:srgbClr val="0F314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C2F4D"/>
                </a:solidFill>
                <a:latin typeface="Arial MT"/>
                <a:cs typeface="Arial MT"/>
              </a:rPr>
              <a:t>Process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09687" y="6661855"/>
            <a:ext cx="204978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183B5B"/>
                </a:solidFill>
                <a:latin typeface="Arial MT"/>
                <a:cs typeface="Arial MT"/>
              </a:rPr>
              <a:t>The</a:t>
            </a:r>
            <a:r>
              <a:rPr sz="3200" spc="-200" dirty="0">
                <a:solidFill>
                  <a:srgbClr val="183B5B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33654"/>
                </a:solidFill>
                <a:latin typeface="Arial MT"/>
                <a:cs typeface="Arial MT"/>
              </a:rPr>
              <a:t>Impact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09212" y="7549091"/>
            <a:ext cx="3355975" cy="11684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065" marR="5080" indent="2540" algn="ctr">
              <a:lnSpc>
                <a:spcPct val="88700"/>
              </a:lnSpc>
              <a:spcBef>
                <a:spcPts val="475"/>
              </a:spcBef>
            </a:pPr>
            <a:r>
              <a:rPr sz="2700" spc="-65" dirty="0">
                <a:latin typeface="Cambria"/>
                <a:cs typeface="Cambria"/>
              </a:rPr>
              <a:t>ML</a:t>
            </a:r>
            <a:r>
              <a:rPr sz="2700" spc="-114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strategy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using </a:t>
            </a:r>
            <a:r>
              <a:rPr sz="2700" spc="-114" dirty="0">
                <a:latin typeface="Cambria"/>
                <a:cs typeface="Cambria"/>
              </a:rPr>
              <a:t>ChEMBL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bioactivity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data </a:t>
            </a:r>
            <a:r>
              <a:rPr sz="2700" spc="-105" dirty="0">
                <a:latin typeface="Cambria"/>
                <a:cs typeface="Cambria"/>
              </a:rPr>
              <a:t>(RF</a:t>
            </a:r>
            <a:r>
              <a:rPr sz="2700" spc="-45" dirty="0">
                <a:latin typeface="Cambria"/>
                <a:cs typeface="Cambria"/>
              </a:rPr>
              <a:t> </a:t>
            </a:r>
            <a:r>
              <a:rPr sz="2700" spc="-409" dirty="0">
                <a:latin typeface="Cambria"/>
                <a:cs typeface="Cambria"/>
              </a:rPr>
              <a:t>&amp;</a:t>
            </a:r>
            <a:r>
              <a:rPr sz="2700" spc="-10" dirty="0">
                <a:latin typeface="Cambria"/>
                <a:cs typeface="Cambria"/>
              </a:rPr>
              <a:t> </a:t>
            </a:r>
            <a:r>
              <a:rPr sz="2700" spc="-80" dirty="0">
                <a:latin typeface="Cambria"/>
                <a:cs typeface="Cambria"/>
              </a:rPr>
              <a:t>GNN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models)</a:t>
            </a:r>
            <a:endParaRPr sz="2700" dirty="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60416" y="7549091"/>
            <a:ext cx="3097530" cy="154003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169545" algn="ctr">
              <a:lnSpc>
                <a:spcPct val="88700"/>
              </a:lnSpc>
              <a:spcBef>
                <a:spcPts val="475"/>
              </a:spcBef>
            </a:pPr>
            <a:r>
              <a:rPr lang="en-US" sz="2700" spc="-110" dirty="0">
                <a:latin typeface="Cambria"/>
                <a:cs typeface="Cambria"/>
              </a:rPr>
              <a:t>Screening</a:t>
            </a:r>
            <a:r>
              <a:rPr lang="en-US" sz="2700" spc="30" dirty="0">
                <a:latin typeface="Cambria"/>
                <a:cs typeface="Cambria"/>
              </a:rPr>
              <a:t> </a:t>
            </a:r>
            <a:r>
              <a:rPr lang="en-US" sz="2700" spc="-10" dirty="0">
                <a:latin typeface="Cambria"/>
                <a:cs typeface="Cambria"/>
              </a:rPr>
              <a:t>PubChem </a:t>
            </a:r>
            <a:r>
              <a:rPr lang="en-US" sz="2700" spc="-120" dirty="0">
                <a:latin typeface="Cambria"/>
                <a:cs typeface="Cambria"/>
              </a:rPr>
              <a:t>library</a:t>
            </a:r>
            <a:r>
              <a:rPr lang="en-US" sz="2700" spc="-30" dirty="0">
                <a:latin typeface="Cambria"/>
                <a:cs typeface="Cambria"/>
              </a:rPr>
              <a:t> </a:t>
            </a:r>
            <a:r>
              <a:rPr lang="en-US" sz="2700" spc="-320" dirty="0">
                <a:latin typeface="Cambria"/>
                <a:cs typeface="Cambria"/>
              </a:rPr>
              <a:t>&amp;</a:t>
            </a:r>
            <a:r>
              <a:rPr lang="en-US" sz="2700" spc="-70" dirty="0">
                <a:latin typeface="Cambria"/>
                <a:cs typeface="Cambria"/>
              </a:rPr>
              <a:t> </a:t>
            </a:r>
            <a:r>
              <a:rPr lang="en-US" sz="2700" spc="-80" dirty="0">
                <a:latin typeface="Cambria"/>
                <a:cs typeface="Cambria"/>
              </a:rPr>
              <a:t>validating</a:t>
            </a:r>
            <a:r>
              <a:rPr lang="en-US" sz="2700" spc="-25" dirty="0">
                <a:latin typeface="Cambria"/>
                <a:cs typeface="Cambria"/>
              </a:rPr>
              <a:t> </a:t>
            </a:r>
            <a:r>
              <a:rPr lang="en-US" sz="2700" spc="-75" dirty="0">
                <a:latin typeface="Cambria"/>
                <a:cs typeface="Cambria"/>
              </a:rPr>
              <a:t>via </a:t>
            </a:r>
            <a:r>
              <a:rPr lang="en-US" sz="2700" spc="-25" dirty="0">
                <a:latin typeface="Cambria"/>
                <a:cs typeface="Cambria"/>
              </a:rPr>
              <a:t>100ns</a:t>
            </a:r>
            <a:r>
              <a:rPr lang="en-US" sz="2700" spc="-150" dirty="0">
                <a:latin typeface="Cambria"/>
                <a:cs typeface="Cambria"/>
              </a:rPr>
              <a:t> </a:t>
            </a:r>
            <a:r>
              <a:rPr lang="en-US" sz="2700" spc="-50" dirty="0">
                <a:latin typeface="Cambria"/>
                <a:cs typeface="Cambria"/>
              </a:rPr>
              <a:t>MD</a:t>
            </a:r>
            <a:r>
              <a:rPr lang="tr-TR" sz="2700" spc="-80" dirty="0">
                <a:latin typeface="Cambria"/>
                <a:cs typeface="Cambria"/>
              </a:rPr>
              <a:t> </a:t>
            </a:r>
            <a:r>
              <a:rPr lang="en-US" sz="2700" spc="-55" dirty="0">
                <a:latin typeface="Cambria"/>
                <a:cs typeface="Cambria"/>
              </a:rPr>
              <a:t>Simulations</a:t>
            </a:r>
            <a:endParaRPr lang="en-US" sz="2700" dirty="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174980" y="7549091"/>
            <a:ext cx="3513454" cy="11684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065" marR="5080" algn="ctr">
              <a:lnSpc>
                <a:spcPct val="88700"/>
              </a:lnSpc>
              <a:spcBef>
                <a:spcPts val="475"/>
              </a:spcBef>
            </a:pPr>
            <a:r>
              <a:rPr sz="2700" spc="-95" dirty="0">
                <a:latin typeface="Cambria"/>
                <a:cs typeface="Cambria"/>
              </a:rPr>
              <a:t>Innovative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105" dirty="0">
                <a:latin typeface="Cambria"/>
                <a:cs typeface="Cambria"/>
              </a:rPr>
              <a:t>computational </a:t>
            </a:r>
            <a:r>
              <a:rPr sz="2700" spc="-125" dirty="0">
                <a:latin typeface="Cambria"/>
                <a:cs typeface="Cambria"/>
              </a:rPr>
              <a:t>method</a:t>
            </a:r>
            <a:r>
              <a:rPr sz="2700" spc="-25" dirty="0">
                <a:latin typeface="Cambria"/>
                <a:cs typeface="Cambria"/>
              </a:rPr>
              <a:t> </a:t>
            </a:r>
            <a:r>
              <a:rPr sz="2700" spc="-210" dirty="0">
                <a:latin typeface="Cambria"/>
                <a:cs typeface="Cambria"/>
              </a:rPr>
              <a:t>&amp;</a:t>
            </a:r>
            <a:r>
              <a:rPr sz="2700" spc="-40" dirty="0">
                <a:latin typeface="Cambria"/>
                <a:cs typeface="Cambria"/>
              </a:rPr>
              <a:t> </a:t>
            </a:r>
            <a:r>
              <a:rPr sz="2700" spc="-65" dirty="0">
                <a:latin typeface="Cambria"/>
                <a:cs typeface="Cambria"/>
              </a:rPr>
              <a:t>list</a:t>
            </a:r>
            <a:r>
              <a:rPr sz="2700" spc="-35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of</a:t>
            </a:r>
            <a:r>
              <a:rPr sz="2700" spc="-50" dirty="0">
                <a:latin typeface="Cambria"/>
                <a:cs typeface="Cambria"/>
              </a:rPr>
              <a:t> </a:t>
            </a:r>
            <a:r>
              <a:rPr sz="2700" spc="-85" dirty="0">
                <a:latin typeface="Cambria"/>
                <a:cs typeface="Cambria"/>
              </a:rPr>
              <a:t>validated </a:t>
            </a:r>
            <a:r>
              <a:rPr sz="2700" spc="-105" dirty="0">
                <a:latin typeface="Cambria"/>
                <a:cs typeface="Cambria"/>
              </a:rPr>
              <a:t>candidate</a:t>
            </a:r>
            <a:r>
              <a:rPr sz="2700" spc="1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molecules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3429000"/>
            <a:ext cx="3009900" cy="252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4900" y="3403600"/>
            <a:ext cx="3695700" cy="25400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61483" y="7446433"/>
            <a:ext cx="0" cy="1579245"/>
          </a:xfrm>
          <a:custGeom>
            <a:avLst/>
            <a:gdLst/>
            <a:ahLst/>
            <a:cxnLst/>
            <a:rect l="l" t="t" r="r" b="b"/>
            <a:pathLst>
              <a:path h="1579245">
                <a:moveTo>
                  <a:pt x="0" y="1579033"/>
                </a:moveTo>
                <a:lnTo>
                  <a:pt x="0" y="0"/>
                </a:lnTo>
              </a:path>
            </a:pathLst>
          </a:custGeom>
          <a:ln w="211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50900" y="7446433"/>
            <a:ext cx="15735300" cy="1579245"/>
            <a:chOff x="850900" y="7446433"/>
            <a:chExt cx="15735300" cy="1579245"/>
          </a:xfrm>
        </p:grpSpPr>
        <p:sp>
          <p:nvSpPr>
            <p:cNvPr id="6" name="object 6"/>
            <p:cNvSpPr/>
            <p:nvPr/>
          </p:nvSpPr>
          <p:spPr>
            <a:xfrm>
              <a:off x="16575613" y="7446433"/>
              <a:ext cx="0" cy="1579245"/>
            </a:xfrm>
            <a:custGeom>
              <a:avLst/>
              <a:gdLst/>
              <a:ahLst/>
              <a:cxnLst/>
              <a:rect l="l" t="t" r="r" b="b"/>
              <a:pathLst>
                <a:path h="1579245">
                  <a:moveTo>
                    <a:pt x="0" y="1579033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0900" y="7457016"/>
              <a:ext cx="15735300" cy="0"/>
            </a:xfrm>
            <a:custGeom>
              <a:avLst/>
              <a:gdLst/>
              <a:ahLst/>
              <a:cxnLst/>
              <a:rect l="l" t="t" r="r" b="b"/>
              <a:pathLst>
                <a:path w="15735300">
                  <a:moveTo>
                    <a:pt x="0" y="0"/>
                  </a:moveTo>
                  <a:lnTo>
                    <a:pt x="15735300" y="0"/>
                  </a:lnTo>
                </a:path>
              </a:pathLst>
            </a:custGeom>
            <a:ln w="211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0900" y="9014883"/>
              <a:ext cx="15735300" cy="0"/>
            </a:xfrm>
            <a:custGeom>
              <a:avLst/>
              <a:gdLst/>
              <a:ahLst/>
              <a:cxnLst/>
              <a:rect l="l" t="t" r="r" b="b"/>
              <a:pathLst>
                <a:path w="15735300">
                  <a:moveTo>
                    <a:pt x="0" y="0"/>
                  </a:moveTo>
                  <a:lnTo>
                    <a:pt x="15735300" y="0"/>
                  </a:lnTo>
                </a:path>
              </a:pathLst>
            </a:custGeom>
            <a:ln w="211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48017" y="427213"/>
            <a:ext cx="12700635" cy="8616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450" dirty="0">
                <a:solidFill>
                  <a:srgbClr val="1A3A4F"/>
                </a:solidFill>
                <a:latin typeface="Arial MT"/>
                <a:cs typeface="Arial MT"/>
              </a:rPr>
              <a:t>Introduction:</a:t>
            </a:r>
            <a:r>
              <a:rPr sz="5450" spc="-130" dirty="0">
                <a:solidFill>
                  <a:srgbClr val="1A3A4F"/>
                </a:solidFill>
                <a:latin typeface="Arial MT"/>
                <a:cs typeface="Arial MT"/>
              </a:rPr>
              <a:t> </a:t>
            </a:r>
            <a:r>
              <a:rPr sz="5450" spc="-110" dirty="0">
                <a:solidFill>
                  <a:srgbClr val="18384F"/>
                </a:solidFill>
                <a:latin typeface="Arial MT"/>
                <a:cs typeface="Arial MT"/>
              </a:rPr>
              <a:t>The</a:t>
            </a:r>
            <a:r>
              <a:rPr sz="5450" spc="-270" dirty="0">
                <a:solidFill>
                  <a:srgbClr val="18384F"/>
                </a:solidFill>
                <a:latin typeface="Arial MT"/>
                <a:cs typeface="Arial MT"/>
              </a:rPr>
              <a:t> </a:t>
            </a:r>
            <a:r>
              <a:rPr sz="5450" spc="-90" dirty="0">
                <a:solidFill>
                  <a:srgbClr val="183442"/>
                </a:solidFill>
                <a:latin typeface="Arial MT"/>
                <a:cs typeface="Arial MT"/>
              </a:rPr>
              <a:t>‘Undruggable’</a:t>
            </a:r>
            <a:r>
              <a:rPr sz="5450" spc="140" dirty="0">
                <a:solidFill>
                  <a:srgbClr val="183442"/>
                </a:solidFill>
                <a:latin typeface="Arial MT"/>
                <a:cs typeface="Arial MT"/>
              </a:rPr>
              <a:t> </a:t>
            </a:r>
            <a:r>
              <a:rPr sz="5450" spc="-45" dirty="0">
                <a:solidFill>
                  <a:srgbClr val="1A3B4F"/>
                </a:solidFill>
                <a:latin typeface="Arial MT"/>
                <a:cs typeface="Arial MT"/>
              </a:rPr>
              <a:t>Challenge</a:t>
            </a:r>
            <a:endParaRPr sz="54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7199" y="1454473"/>
            <a:ext cx="15163799" cy="1697355"/>
          </a:xfrm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R="836930" algn="ctr">
              <a:lnSpc>
                <a:spcPct val="100000"/>
              </a:lnSpc>
              <a:spcBef>
                <a:spcPts val="2495"/>
              </a:spcBef>
            </a:pPr>
            <a:r>
              <a:rPr sz="4000" spc="-10" dirty="0">
                <a:solidFill>
                  <a:srgbClr val="151515"/>
                </a:solidFill>
                <a:latin typeface="Arial MT"/>
                <a:cs typeface="Arial MT"/>
              </a:rPr>
              <a:t>Structural</a:t>
            </a:r>
            <a:r>
              <a:rPr sz="4000" spc="-20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4000" spc="-80" dirty="0">
                <a:solidFill>
                  <a:srgbClr val="1A1A1A"/>
                </a:solidFill>
                <a:latin typeface="Arial MT"/>
                <a:cs typeface="Arial MT"/>
              </a:rPr>
              <a:t>Failure</a:t>
            </a:r>
            <a:r>
              <a:rPr sz="4000" spc="-19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181818"/>
                </a:solidFill>
                <a:latin typeface="Arial MT"/>
                <a:cs typeface="Arial MT"/>
              </a:rPr>
              <a:t>Modes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  <a:tabLst>
                <a:tab pos="7211695" algn="l"/>
              </a:tabLst>
            </a:pPr>
            <a:r>
              <a:rPr lang="tr-TR" sz="3300" spc="-55" dirty="0">
                <a:latin typeface="Arial MT"/>
                <a:cs typeface="Arial MT"/>
              </a:rPr>
              <a:t>    </a:t>
            </a:r>
            <a:r>
              <a:rPr sz="3300" spc="-55" dirty="0">
                <a:latin typeface="Arial MT"/>
                <a:cs typeface="Arial MT"/>
              </a:rPr>
              <a:t>Classical</a:t>
            </a:r>
            <a:r>
              <a:rPr sz="3300" spc="-17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“Lock</a:t>
            </a:r>
            <a:r>
              <a:rPr sz="3300" spc="-125" dirty="0">
                <a:latin typeface="Arial MT"/>
                <a:cs typeface="Arial MT"/>
              </a:rPr>
              <a:t> </a:t>
            </a:r>
            <a:r>
              <a:rPr sz="3300" spc="-120" dirty="0">
                <a:latin typeface="Arial MT"/>
                <a:cs typeface="Arial MT"/>
              </a:rPr>
              <a:t>and</a:t>
            </a:r>
            <a:r>
              <a:rPr sz="3300" spc="-170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Key”</a:t>
            </a:r>
            <a:r>
              <a:rPr sz="3300" dirty="0">
                <a:latin typeface="Arial MT"/>
                <a:cs typeface="Arial MT"/>
              </a:rPr>
              <a:t>	</a:t>
            </a:r>
            <a:r>
              <a:rPr lang="tr-TR" sz="3300" dirty="0">
                <a:latin typeface="Arial MT"/>
                <a:cs typeface="Arial MT"/>
              </a:rPr>
              <a:t>       </a:t>
            </a:r>
            <a:r>
              <a:rPr sz="3300" spc="-85" dirty="0">
                <a:latin typeface="Arial MT"/>
                <a:cs typeface="Arial MT"/>
              </a:rPr>
              <a:t>The</a:t>
            </a:r>
            <a:r>
              <a:rPr sz="3300" spc="-265" dirty="0">
                <a:latin typeface="Arial MT"/>
                <a:cs typeface="Arial MT"/>
              </a:rPr>
              <a:t> </a:t>
            </a:r>
            <a:r>
              <a:rPr sz="3300" spc="-195" dirty="0">
                <a:latin typeface="Arial MT"/>
                <a:cs typeface="Arial MT"/>
              </a:rPr>
              <a:t>IDP</a:t>
            </a:r>
            <a:r>
              <a:rPr sz="3300" spc="-165" dirty="0">
                <a:latin typeface="Arial MT"/>
                <a:cs typeface="Arial MT"/>
              </a:rPr>
              <a:t> </a:t>
            </a:r>
            <a:r>
              <a:rPr sz="3300" spc="-55" dirty="0">
                <a:latin typeface="Arial MT"/>
                <a:cs typeface="Arial MT"/>
              </a:rPr>
              <a:t>Reality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spc="-200" dirty="0">
                <a:latin typeface="Arial MT"/>
                <a:cs typeface="Arial MT"/>
              </a:rPr>
              <a:t>(MYC</a:t>
            </a:r>
            <a:r>
              <a:rPr sz="3300" spc="-11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&amp;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lang="tr-TR" sz="3300" spc="-55" dirty="0">
                <a:latin typeface="Arial MT"/>
                <a:cs typeface="Arial MT"/>
              </a:rPr>
              <a:t>ẞ-</a:t>
            </a:r>
            <a:r>
              <a:rPr sz="3300" spc="-10" dirty="0">
                <a:latin typeface="Arial MT"/>
                <a:cs typeface="Arial MT"/>
              </a:rPr>
              <a:t>catenin)</a:t>
            </a:r>
            <a:endParaRPr sz="33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149" y="6110816"/>
            <a:ext cx="4885690" cy="960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604"/>
              </a:lnSpc>
              <a:spcBef>
                <a:spcPts val="130"/>
              </a:spcBef>
            </a:pPr>
            <a:r>
              <a:rPr sz="3300" spc="-90" dirty="0">
                <a:latin typeface="Cambria"/>
                <a:cs typeface="Cambria"/>
              </a:rPr>
              <a:t>Stable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50" dirty="0">
                <a:latin typeface="Cambria"/>
                <a:cs typeface="Cambria"/>
              </a:rPr>
              <a:t>binding</a:t>
            </a:r>
            <a:r>
              <a:rPr sz="3300" spc="-105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pockets</a:t>
            </a:r>
            <a:r>
              <a:rPr sz="3300" spc="-60" dirty="0">
                <a:latin typeface="Cambria"/>
                <a:cs typeface="Cambria"/>
              </a:rPr>
              <a:t> </a:t>
            </a:r>
            <a:r>
              <a:rPr sz="3300" spc="-45" dirty="0">
                <a:latin typeface="Cambria"/>
                <a:cs typeface="Cambria"/>
              </a:rPr>
              <a:t>allow</a:t>
            </a:r>
            <a:endParaRPr sz="3300">
              <a:latin typeface="Cambria"/>
              <a:cs typeface="Cambria"/>
            </a:endParaRPr>
          </a:p>
          <a:p>
            <a:pPr marL="142240">
              <a:lnSpc>
                <a:spcPts val="3725"/>
              </a:lnSpc>
            </a:pPr>
            <a:r>
              <a:rPr sz="3400" spc="-120" dirty="0">
                <a:latin typeface="Cambria"/>
                <a:cs typeface="Cambria"/>
              </a:rPr>
              <a:t>traditional</a:t>
            </a:r>
            <a:r>
              <a:rPr sz="3400" spc="-35" dirty="0">
                <a:latin typeface="Cambria"/>
                <a:cs typeface="Cambria"/>
              </a:rPr>
              <a:t> </a:t>
            </a:r>
            <a:r>
              <a:rPr sz="3400" spc="-120" dirty="0">
                <a:latin typeface="Cambria"/>
                <a:cs typeface="Cambria"/>
              </a:rPr>
              <a:t>drugs</a:t>
            </a:r>
            <a:r>
              <a:rPr sz="3400" spc="-25" dirty="0">
                <a:latin typeface="Cambria"/>
                <a:cs typeface="Cambria"/>
              </a:rPr>
              <a:t> </a:t>
            </a:r>
            <a:r>
              <a:rPr sz="3400" spc="-100" dirty="0">
                <a:latin typeface="Cambria"/>
                <a:cs typeface="Cambria"/>
              </a:rPr>
              <a:t>to</a:t>
            </a:r>
            <a:r>
              <a:rPr sz="3400" spc="-170" dirty="0">
                <a:latin typeface="Cambria"/>
                <a:cs typeface="Cambria"/>
              </a:rPr>
              <a:t> </a:t>
            </a:r>
            <a:r>
              <a:rPr sz="3400" spc="-110" dirty="0">
                <a:latin typeface="Cambria"/>
                <a:cs typeface="Cambria"/>
              </a:rPr>
              <a:t>lock</a:t>
            </a:r>
            <a:r>
              <a:rPr sz="3400" spc="-80" dirty="0">
                <a:latin typeface="Cambria"/>
                <a:cs typeface="Cambria"/>
              </a:rPr>
              <a:t> </a:t>
            </a:r>
            <a:r>
              <a:rPr sz="3400" spc="-25" dirty="0">
                <a:latin typeface="Cambria"/>
                <a:cs typeface="Cambria"/>
              </a:rPr>
              <a:t>in.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73499" y="6110816"/>
            <a:ext cx="5121275" cy="9607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3604"/>
              </a:lnSpc>
              <a:spcBef>
                <a:spcPts val="130"/>
              </a:spcBef>
            </a:pPr>
            <a:r>
              <a:rPr sz="3300" spc="-75" dirty="0">
                <a:latin typeface="Cambria"/>
                <a:cs typeface="Cambria"/>
              </a:rPr>
              <a:t>Conformational</a:t>
            </a:r>
            <a:r>
              <a:rPr sz="3300" spc="-105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heterogeneity</a:t>
            </a:r>
            <a:endParaRPr sz="3300">
              <a:latin typeface="Cambria"/>
              <a:cs typeface="Cambria"/>
            </a:endParaRPr>
          </a:p>
          <a:p>
            <a:pPr marL="19050" algn="ctr">
              <a:lnSpc>
                <a:spcPts val="3725"/>
              </a:lnSpc>
            </a:pPr>
            <a:r>
              <a:rPr sz="3400" spc="-155" dirty="0">
                <a:latin typeface="Cambria"/>
                <a:cs typeface="Cambria"/>
              </a:rPr>
              <a:t>prevents</a:t>
            </a:r>
            <a:r>
              <a:rPr sz="3400" spc="15" dirty="0">
                <a:latin typeface="Cambria"/>
                <a:cs typeface="Cambria"/>
              </a:rPr>
              <a:t> </a:t>
            </a:r>
            <a:r>
              <a:rPr sz="3400" spc="-140" dirty="0">
                <a:latin typeface="Cambria"/>
                <a:cs typeface="Cambria"/>
              </a:rPr>
              <a:t>stable</a:t>
            </a:r>
            <a:r>
              <a:rPr sz="3400" spc="-185" dirty="0">
                <a:latin typeface="Cambria"/>
                <a:cs typeface="Cambria"/>
              </a:rPr>
              <a:t> </a:t>
            </a:r>
            <a:r>
              <a:rPr sz="3400" spc="-10" dirty="0">
                <a:latin typeface="Cambria"/>
                <a:cs typeface="Cambria"/>
              </a:rPr>
              <a:t>binding.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9348" y="7452077"/>
            <a:ext cx="14909165" cy="146450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97790" algn="ctr">
              <a:lnSpc>
                <a:spcPts val="3720"/>
              </a:lnSpc>
              <a:spcBef>
                <a:spcPts val="120"/>
              </a:spcBef>
            </a:pPr>
            <a:r>
              <a:rPr lang="en-US" sz="3450" spc="-185" dirty="0">
                <a:latin typeface="Cambria"/>
                <a:cs typeface="Cambria"/>
              </a:rPr>
              <a:t>Why Methods Fail: Traditional structure-based drug design relies on static shapes.</a:t>
            </a:r>
          </a:p>
          <a:p>
            <a:pPr marR="97790" algn="ctr">
              <a:lnSpc>
                <a:spcPts val="3720"/>
              </a:lnSpc>
              <a:spcBef>
                <a:spcPts val="120"/>
              </a:spcBef>
            </a:pPr>
            <a:r>
              <a:rPr lang="en-US" sz="3450" spc="-185" dirty="0">
                <a:latin typeface="Cambria"/>
                <a:cs typeface="Cambria"/>
              </a:rPr>
              <a:t>IDPs are dynamic, lacking the deep pockets required for this approach. Current research</a:t>
            </a:r>
          </a:p>
          <a:p>
            <a:pPr marR="97790" algn="ctr">
              <a:lnSpc>
                <a:spcPts val="3720"/>
              </a:lnSpc>
              <a:spcBef>
                <a:spcPts val="120"/>
              </a:spcBef>
            </a:pPr>
            <a:r>
              <a:rPr lang="en-US" sz="3450" spc="-185" dirty="0">
                <a:latin typeface="Cambria"/>
                <a:cs typeface="Cambria"/>
              </a:rPr>
              <a:t>focuses on characterization, leaving a gap in ligand binding prediction</a:t>
            </a:r>
            <a:r>
              <a:rPr sz="3450" spc="-35" dirty="0">
                <a:latin typeface="Cambria"/>
                <a:cs typeface="Cambria"/>
              </a:rPr>
              <a:t>.</a:t>
            </a:r>
            <a:endParaRPr sz="345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7100" y="4330700"/>
            <a:ext cx="8204200" cy="4508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5800" y="1968500"/>
            <a:ext cx="8432800" cy="2247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68040" y="429683"/>
            <a:ext cx="10245725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spc="105" dirty="0">
                <a:solidFill>
                  <a:srgbClr val="1D3D59"/>
                </a:solidFill>
                <a:latin typeface="Arial MT"/>
                <a:cs typeface="Arial MT"/>
              </a:rPr>
              <a:t>Introduction:</a:t>
            </a:r>
            <a:r>
              <a:rPr sz="5400" spc="150" dirty="0">
                <a:solidFill>
                  <a:srgbClr val="1D3D59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1D425D"/>
                </a:solidFill>
                <a:latin typeface="Arial MT"/>
                <a:cs typeface="Arial MT"/>
              </a:rPr>
              <a:t>The</a:t>
            </a:r>
            <a:r>
              <a:rPr sz="5400" spc="-229" dirty="0">
                <a:solidFill>
                  <a:srgbClr val="1D425D"/>
                </a:solidFill>
                <a:latin typeface="Arial MT"/>
                <a:cs typeface="Arial MT"/>
              </a:rPr>
              <a:t> </a:t>
            </a:r>
            <a:r>
              <a:rPr sz="5400" dirty="0">
                <a:solidFill>
                  <a:srgbClr val="183B56"/>
                </a:solidFill>
                <a:latin typeface="Arial MT"/>
                <a:cs typeface="Arial MT"/>
              </a:rPr>
              <a:t>Cancer</a:t>
            </a:r>
            <a:r>
              <a:rPr sz="5400" spc="65" dirty="0">
                <a:solidFill>
                  <a:srgbClr val="183B56"/>
                </a:solidFill>
                <a:latin typeface="Arial MT"/>
                <a:cs typeface="Arial MT"/>
              </a:rPr>
              <a:t> </a:t>
            </a:r>
            <a:r>
              <a:rPr sz="5400" spc="-10" dirty="0">
                <a:solidFill>
                  <a:srgbClr val="1C3F60"/>
                </a:solidFill>
                <a:latin typeface="Arial MT"/>
                <a:cs typeface="Arial MT"/>
              </a:rPr>
              <a:t>Targets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3969" y="1733197"/>
            <a:ext cx="631952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20" dirty="0">
                <a:latin typeface="Cambria"/>
                <a:cs typeface="Cambria"/>
              </a:rPr>
              <a:t>The</a:t>
            </a:r>
            <a:r>
              <a:rPr sz="3400" spc="-155" dirty="0">
                <a:latin typeface="Cambria"/>
                <a:cs typeface="Cambria"/>
              </a:rPr>
              <a:t> </a:t>
            </a:r>
            <a:r>
              <a:rPr sz="3400" spc="-114" dirty="0">
                <a:latin typeface="Cambria"/>
                <a:cs typeface="Cambria"/>
              </a:rPr>
              <a:t>Stakes:</a:t>
            </a:r>
            <a:r>
              <a:rPr sz="3400" spc="-135" dirty="0">
                <a:latin typeface="Cambria"/>
                <a:cs typeface="Cambria"/>
              </a:rPr>
              <a:t> </a:t>
            </a:r>
            <a:r>
              <a:rPr sz="3400" spc="-155" dirty="0">
                <a:latin typeface="Cambria"/>
                <a:cs typeface="Cambria"/>
              </a:rPr>
              <a:t>Cancer</a:t>
            </a:r>
            <a:r>
              <a:rPr sz="3400" spc="-15" dirty="0">
                <a:latin typeface="Cambria"/>
                <a:cs typeface="Cambria"/>
              </a:rPr>
              <a:t> </a:t>
            </a:r>
            <a:r>
              <a:rPr sz="3400" spc="-45" dirty="0">
                <a:latin typeface="Cambria"/>
                <a:cs typeface="Cambria"/>
              </a:rPr>
              <a:t>is</a:t>
            </a:r>
            <a:r>
              <a:rPr sz="3400" spc="-204" dirty="0">
                <a:latin typeface="Cambria"/>
                <a:cs typeface="Cambria"/>
              </a:rPr>
              <a:t> </a:t>
            </a:r>
            <a:r>
              <a:rPr sz="3400" spc="-90" dirty="0">
                <a:latin typeface="Cambria"/>
                <a:cs typeface="Cambria"/>
              </a:rPr>
              <a:t>a</a:t>
            </a:r>
            <a:r>
              <a:rPr sz="3400" spc="-220" dirty="0">
                <a:latin typeface="Cambria"/>
                <a:cs typeface="Cambria"/>
              </a:rPr>
              <a:t> </a:t>
            </a:r>
            <a:r>
              <a:rPr sz="3400" spc="-145" dirty="0">
                <a:latin typeface="Cambria"/>
                <a:cs typeface="Cambria"/>
              </a:rPr>
              <a:t>leading</a:t>
            </a:r>
            <a:r>
              <a:rPr sz="3400" spc="55" dirty="0">
                <a:latin typeface="Cambria"/>
                <a:cs typeface="Cambria"/>
              </a:rPr>
              <a:t> </a:t>
            </a:r>
            <a:r>
              <a:rPr sz="3400" spc="-80" dirty="0">
                <a:latin typeface="Cambria"/>
                <a:cs typeface="Cambria"/>
              </a:rPr>
              <a:t>global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4670" y="2173816"/>
            <a:ext cx="6401435" cy="9620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3729"/>
              </a:lnSpc>
              <a:spcBef>
                <a:spcPts val="130"/>
              </a:spcBef>
            </a:pPr>
            <a:r>
              <a:rPr sz="3300" spc="-90" dirty="0">
                <a:latin typeface="Cambria"/>
                <a:cs typeface="Cambria"/>
              </a:rPr>
              <a:t>health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130" dirty="0">
                <a:latin typeface="Cambria"/>
                <a:cs typeface="Cambria"/>
              </a:rPr>
              <a:t>problem.</a:t>
            </a:r>
            <a:r>
              <a:rPr sz="3300" spc="-50" dirty="0">
                <a:latin typeface="Cambria"/>
                <a:cs typeface="Cambria"/>
              </a:rPr>
              <a:t> </a:t>
            </a:r>
            <a:r>
              <a:rPr sz="3300" spc="-60" dirty="0">
                <a:latin typeface="Cambria"/>
                <a:cs typeface="Cambria"/>
              </a:rPr>
              <a:t>Identifying</a:t>
            </a:r>
            <a:r>
              <a:rPr sz="3300" spc="-20" dirty="0">
                <a:latin typeface="Cambria"/>
                <a:cs typeface="Cambria"/>
              </a:rPr>
              <a:t> </a:t>
            </a:r>
            <a:r>
              <a:rPr sz="3300" spc="-85" dirty="0">
                <a:latin typeface="Cambria"/>
                <a:cs typeface="Cambria"/>
              </a:rPr>
              <a:t>molecular</a:t>
            </a:r>
            <a:endParaRPr sz="3300">
              <a:latin typeface="Cambria"/>
              <a:cs typeface="Cambria"/>
            </a:endParaRPr>
          </a:p>
          <a:p>
            <a:pPr marL="18415">
              <a:lnSpc>
                <a:spcPts val="3610"/>
              </a:lnSpc>
            </a:pPr>
            <a:r>
              <a:rPr sz="3200" spc="-55" dirty="0">
                <a:latin typeface="Cambria"/>
                <a:cs typeface="Cambria"/>
              </a:rPr>
              <a:t>treatment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45" dirty="0">
                <a:latin typeface="Cambria"/>
                <a:cs typeface="Cambria"/>
              </a:rPr>
              <a:t>targets</a:t>
            </a:r>
            <a:r>
              <a:rPr sz="3200" spc="-114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is</a:t>
            </a:r>
            <a:r>
              <a:rPr sz="3200" spc="-310" dirty="0">
                <a:latin typeface="Cambria"/>
                <a:cs typeface="Cambria"/>
              </a:rPr>
              <a:t> </a:t>
            </a:r>
            <a:r>
              <a:rPr sz="3200" spc="-10" dirty="0">
                <a:latin typeface="Cambria"/>
                <a:cs typeface="Cambria"/>
              </a:rPr>
              <a:t>critical.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6154" y="3464277"/>
            <a:ext cx="6767830" cy="5364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745"/>
              </a:lnSpc>
              <a:spcBef>
                <a:spcPts val="120"/>
              </a:spcBef>
            </a:pPr>
            <a:r>
              <a:rPr sz="3450" spc="-25" dirty="0">
                <a:latin typeface="Times New Roman"/>
                <a:cs typeface="Times New Roman"/>
              </a:rPr>
              <a:t>Target</a:t>
            </a:r>
            <a:r>
              <a:rPr sz="3450" spc="-140" dirty="0">
                <a:latin typeface="Times New Roman"/>
                <a:cs typeface="Times New Roman"/>
              </a:rPr>
              <a:t> </a:t>
            </a:r>
            <a:r>
              <a:rPr lang="tr-TR" sz="3450" spc="-140" dirty="0">
                <a:latin typeface="Times New Roman"/>
                <a:cs typeface="Times New Roman"/>
              </a:rPr>
              <a:t>1</a:t>
            </a:r>
            <a:r>
              <a:rPr sz="3450" dirty="0">
                <a:latin typeface="Times New Roman"/>
                <a:cs typeface="Times New Roman"/>
              </a:rPr>
              <a:t>:</a:t>
            </a:r>
            <a:r>
              <a:rPr sz="3450" spc="-95" dirty="0">
                <a:latin typeface="Times New Roman"/>
                <a:cs typeface="Times New Roman"/>
              </a:rPr>
              <a:t> </a:t>
            </a:r>
            <a:r>
              <a:rPr sz="3450" spc="-610" dirty="0">
                <a:latin typeface="Times New Roman"/>
                <a:cs typeface="Times New Roman"/>
              </a:rPr>
              <a:t>MYC</a:t>
            </a:r>
            <a:endParaRPr sz="3450" dirty="0">
              <a:latin typeface="Times New Roman"/>
              <a:cs typeface="Times New Roman"/>
            </a:endParaRPr>
          </a:p>
          <a:p>
            <a:pPr marL="390525" indent="-319405">
              <a:lnSpc>
                <a:spcPts val="3435"/>
              </a:lnSpc>
              <a:buChar char="-"/>
              <a:tabLst>
                <a:tab pos="390525" algn="l"/>
              </a:tabLst>
            </a:pPr>
            <a:r>
              <a:rPr sz="3550" spc="-490" dirty="0">
                <a:latin typeface="Times New Roman"/>
                <a:cs typeface="Times New Roman"/>
              </a:rPr>
              <a:t>A</a:t>
            </a:r>
            <a:r>
              <a:rPr sz="3550" spc="-295" dirty="0">
                <a:latin typeface="Times New Roman"/>
                <a:cs typeface="Times New Roman"/>
              </a:rPr>
              <a:t> </a:t>
            </a:r>
            <a:r>
              <a:rPr sz="3550" spc="-65" dirty="0">
                <a:latin typeface="Times New Roman"/>
                <a:cs typeface="Times New Roman"/>
              </a:rPr>
              <a:t>transcription</a:t>
            </a:r>
            <a:r>
              <a:rPr sz="3550" spc="-114" dirty="0">
                <a:latin typeface="Times New Roman"/>
                <a:cs typeface="Times New Roman"/>
              </a:rPr>
              <a:t> </a:t>
            </a:r>
            <a:r>
              <a:rPr sz="3550" spc="-85" dirty="0">
                <a:latin typeface="Times New Roman"/>
                <a:cs typeface="Times New Roman"/>
              </a:rPr>
              <a:t>factor</a:t>
            </a:r>
            <a:r>
              <a:rPr sz="3550" spc="-45" dirty="0">
                <a:latin typeface="Times New Roman"/>
                <a:cs typeface="Times New Roman"/>
              </a:rPr>
              <a:t> </a:t>
            </a:r>
            <a:r>
              <a:rPr sz="3550" spc="-80" dirty="0">
                <a:latin typeface="Times New Roman"/>
                <a:cs typeface="Times New Roman"/>
              </a:rPr>
              <a:t>central</a:t>
            </a:r>
            <a:r>
              <a:rPr sz="3550" spc="-145" dirty="0">
                <a:latin typeface="Times New Roman"/>
                <a:cs typeface="Times New Roman"/>
              </a:rPr>
              <a:t> </a:t>
            </a:r>
            <a:r>
              <a:rPr sz="3550" spc="-50" dirty="0">
                <a:latin typeface="Times New Roman"/>
                <a:cs typeface="Times New Roman"/>
              </a:rPr>
              <a:t>to</a:t>
            </a:r>
            <a:r>
              <a:rPr sz="3550" spc="-275" dirty="0">
                <a:latin typeface="Times New Roman"/>
                <a:cs typeface="Times New Roman"/>
              </a:rPr>
              <a:t> </a:t>
            </a:r>
            <a:r>
              <a:rPr sz="3550" spc="-20" dirty="0">
                <a:latin typeface="Times New Roman"/>
                <a:cs typeface="Times New Roman"/>
              </a:rPr>
              <a:t>cell</a:t>
            </a:r>
            <a:endParaRPr sz="3550" dirty="0">
              <a:latin typeface="Times New Roman"/>
              <a:cs typeface="Times New Roman"/>
            </a:endParaRPr>
          </a:p>
          <a:p>
            <a:pPr marL="421005">
              <a:lnSpc>
                <a:spcPts val="3529"/>
              </a:lnSpc>
            </a:pPr>
            <a:r>
              <a:rPr sz="3600" spc="-114" dirty="0">
                <a:latin typeface="Times New Roman"/>
                <a:cs typeface="Times New Roman"/>
              </a:rPr>
              <a:t>proliferation</a:t>
            </a:r>
            <a:r>
              <a:rPr sz="3600" spc="-90" dirty="0">
                <a:latin typeface="Times New Roman"/>
                <a:cs typeface="Times New Roman"/>
              </a:rPr>
              <a:t> </a:t>
            </a:r>
            <a:r>
              <a:rPr sz="3600" spc="-100" dirty="0">
                <a:latin typeface="Times New Roman"/>
                <a:cs typeface="Times New Roman"/>
              </a:rPr>
              <a:t>and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55" dirty="0">
                <a:latin typeface="Times New Roman"/>
                <a:cs typeface="Times New Roman"/>
              </a:rPr>
              <a:t>metabolism.</a:t>
            </a:r>
            <a:endParaRPr sz="3600" dirty="0">
              <a:latin typeface="Times New Roman"/>
              <a:cs typeface="Times New Roman"/>
            </a:endParaRPr>
          </a:p>
          <a:p>
            <a:pPr marL="403860" indent="-332105">
              <a:lnSpc>
                <a:spcPts val="3360"/>
              </a:lnSpc>
              <a:buChar char="-"/>
              <a:tabLst>
                <a:tab pos="403860" algn="l"/>
              </a:tabLst>
            </a:pPr>
            <a:r>
              <a:rPr sz="3450" spc="-90" dirty="0">
                <a:latin typeface="Times New Roman"/>
                <a:cs typeface="Times New Roman"/>
              </a:rPr>
              <a:t>Overactivation</a:t>
            </a:r>
            <a:r>
              <a:rPr sz="3450" spc="-150" dirty="0">
                <a:latin typeface="Times New Roman"/>
                <a:cs typeface="Times New Roman"/>
              </a:rPr>
              <a:t> </a:t>
            </a:r>
            <a:r>
              <a:rPr sz="3450" spc="-75" dirty="0">
                <a:latin typeface="Times New Roman"/>
                <a:cs typeface="Times New Roman"/>
              </a:rPr>
              <a:t>is</a:t>
            </a:r>
            <a:r>
              <a:rPr sz="3450" spc="-165" dirty="0">
                <a:latin typeface="Times New Roman"/>
                <a:cs typeface="Times New Roman"/>
              </a:rPr>
              <a:t> </a:t>
            </a:r>
            <a:r>
              <a:rPr sz="3450" spc="-160" dirty="0">
                <a:latin typeface="Times New Roman"/>
                <a:cs typeface="Times New Roman"/>
              </a:rPr>
              <a:t>a</a:t>
            </a:r>
            <a:r>
              <a:rPr sz="3450" spc="-150" dirty="0">
                <a:latin typeface="Times New Roman"/>
                <a:cs typeface="Times New Roman"/>
              </a:rPr>
              <a:t> </a:t>
            </a:r>
            <a:r>
              <a:rPr sz="3450" spc="-45" dirty="0">
                <a:latin typeface="Times New Roman"/>
                <a:cs typeface="Times New Roman"/>
              </a:rPr>
              <a:t>hallmark</a:t>
            </a:r>
            <a:r>
              <a:rPr sz="3450" spc="-175" dirty="0">
                <a:latin typeface="Times New Roman"/>
                <a:cs typeface="Times New Roman"/>
              </a:rPr>
              <a:t> </a:t>
            </a:r>
            <a:r>
              <a:rPr sz="3450" spc="-155" dirty="0">
                <a:latin typeface="Times New Roman"/>
                <a:cs typeface="Times New Roman"/>
              </a:rPr>
              <a:t>of</a:t>
            </a:r>
            <a:r>
              <a:rPr sz="3450" spc="25" dirty="0">
                <a:latin typeface="Times New Roman"/>
                <a:cs typeface="Times New Roman"/>
              </a:rPr>
              <a:t> </a:t>
            </a:r>
            <a:r>
              <a:rPr sz="3450" spc="-20" dirty="0">
                <a:latin typeface="Times New Roman"/>
                <a:cs typeface="Times New Roman"/>
              </a:rPr>
              <a:t>many</a:t>
            </a:r>
            <a:endParaRPr sz="3450" dirty="0">
              <a:latin typeface="Times New Roman"/>
              <a:cs typeface="Times New Roman"/>
            </a:endParaRPr>
          </a:p>
          <a:p>
            <a:pPr marL="403860">
              <a:lnSpc>
                <a:spcPts val="3900"/>
              </a:lnSpc>
            </a:pPr>
            <a:r>
              <a:rPr sz="3600" spc="-10" dirty="0">
                <a:latin typeface="Times New Roman"/>
                <a:cs typeface="Times New Roman"/>
              </a:rPr>
              <a:t>cancers.</a:t>
            </a:r>
            <a:endParaRPr sz="3600" dirty="0">
              <a:latin typeface="Times New Roman"/>
              <a:cs typeface="Times New Roman"/>
            </a:endParaRPr>
          </a:p>
          <a:p>
            <a:pPr marL="38100">
              <a:lnSpc>
                <a:spcPts val="3704"/>
              </a:lnSpc>
              <a:spcBef>
                <a:spcPts val="2830"/>
              </a:spcBef>
            </a:pPr>
            <a:r>
              <a:rPr sz="3300" spc="-35" dirty="0">
                <a:latin typeface="Cambria"/>
                <a:cs typeface="Cambria"/>
              </a:rPr>
              <a:t>Target</a:t>
            </a:r>
            <a:r>
              <a:rPr sz="3300" spc="-90" dirty="0">
                <a:latin typeface="Cambria"/>
                <a:cs typeface="Cambria"/>
              </a:rPr>
              <a:t> </a:t>
            </a:r>
            <a:r>
              <a:rPr lang="tr-TR" sz="3300" spc="100" dirty="0">
                <a:latin typeface="Cambria"/>
                <a:cs typeface="Cambria"/>
              </a:rPr>
              <a:t>2</a:t>
            </a:r>
            <a:r>
              <a:rPr sz="3300" spc="100" dirty="0">
                <a:latin typeface="Cambria"/>
                <a:cs typeface="Cambria"/>
              </a:rPr>
              <a:t>:</a:t>
            </a:r>
            <a:r>
              <a:rPr sz="3300" spc="-300" dirty="0">
                <a:latin typeface="Cambria"/>
                <a:cs typeface="Cambria"/>
              </a:rPr>
              <a:t> </a:t>
            </a:r>
            <a:r>
              <a:rPr lang="tr-TR" sz="3300" spc="-25" dirty="0">
                <a:latin typeface="Cambria"/>
                <a:cs typeface="Cambria"/>
              </a:rPr>
              <a:t> CTNNB1 </a:t>
            </a:r>
            <a:r>
              <a:rPr sz="3300" spc="-30" dirty="0">
                <a:latin typeface="Cambria"/>
                <a:cs typeface="Cambria"/>
              </a:rPr>
              <a:t>(</a:t>
            </a:r>
            <a:r>
              <a:rPr lang="tr-TR" sz="3300" spc="-30" dirty="0">
                <a:latin typeface="Cambria"/>
                <a:cs typeface="Cambria"/>
              </a:rPr>
              <a:t>ẞ-</a:t>
            </a:r>
            <a:r>
              <a:rPr lang="tr-TR" sz="3300" spc="-30" dirty="0" err="1">
                <a:latin typeface="Cambria"/>
                <a:cs typeface="Cambria"/>
              </a:rPr>
              <a:t>catenin</a:t>
            </a:r>
            <a:r>
              <a:rPr sz="3300" spc="-10" dirty="0">
                <a:latin typeface="Cambria"/>
                <a:cs typeface="Cambria"/>
              </a:rPr>
              <a:t>)</a:t>
            </a:r>
            <a:endParaRPr sz="3300" dirty="0">
              <a:latin typeface="Cambria"/>
              <a:cs typeface="Cambria"/>
            </a:endParaRPr>
          </a:p>
          <a:p>
            <a:pPr marL="394970" marR="731520" indent="-328295">
              <a:lnSpc>
                <a:spcPts val="3450"/>
              </a:lnSpc>
              <a:spcBef>
                <a:spcPts val="285"/>
              </a:spcBef>
              <a:buChar char="-"/>
              <a:tabLst>
                <a:tab pos="400050" algn="l"/>
              </a:tabLst>
            </a:pPr>
            <a:r>
              <a:rPr sz="3300" spc="-150" dirty="0">
                <a:latin typeface="Cambria"/>
                <a:cs typeface="Cambria"/>
              </a:rPr>
              <a:t>Key</a:t>
            </a:r>
            <a:r>
              <a:rPr sz="3300" spc="-65" dirty="0">
                <a:latin typeface="Cambria"/>
                <a:cs typeface="Cambria"/>
              </a:rPr>
              <a:t> </a:t>
            </a:r>
            <a:r>
              <a:rPr sz="3300" spc="-90" dirty="0">
                <a:latin typeface="Cambria"/>
                <a:cs typeface="Cambria"/>
              </a:rPr>
              <a:t>effector</a:t>
            </a:r>
            <a:r>
              <a:rPr sz="3300" spc="-95" dirty="0">
                <a:latin typeface="Cambria"/>
                <a:cs typeface="Cambria"/>
              </a:rPr>
              <a:t> </a:t>
            </a:r>
            <a:r>
              <a:rPr sz="3300" spc="-20" dirty="0">
                <a:latin typeface="Cambria"/>
                <a:cs typeface="Cambria"/>
              </a:rPr>
              <a:t>of</a:t>
            </a:r>
            <a:r>
              <a:rPr sz="3300" spc="-40" dirty="0">
                <a:latin typeface="Cambria"/>
                <a:cs typeface="Cambria"/>
              </a:rPr>
              <a:t> </a:t>
            </a:r>
            <a:r>
              <a:rPr sz="3300" spc="-70" dirty="0">
                <a:latin typeface="Cambria"/>
                <a:cs typeface="Cambria"/>
              </a:rPr>
              <a:t>the</a:t>
            </a:r>
            <a:r>
              <a:rPr sz="3300" spc="-210" dirty="0">
                <a:latin typeface="Cambria"/>
                <a:cs typeface="Cambria"/>
              </a:rPr>
              <a:t> </a:t>
            </a:r>
            <a:r>
              <a:rPr sz="3300" spc="-114" dirty="0" err="1">
                <a:latin typeface="Cambria"/>
                <a:cs typeface="Cambria"/>
              </a:rPr>
              <a:t>Wnt</a:t>
            </a:r>
            <a:r>
              <a:rPr sz="3300" spc="-114" dirty="0">
                <a:latin typeface="Cambria"/>
                <a:cs typeface="Cambria"/>
              </a:rPr>
              <a:t>/</a:t>
            </a:r>
            <a:r>
              <a:rPr lang="tr-TR" sz="3300" spc="-114" dirty="0">
                <a:latin typeface="Cambria"/>
                <a:cs typeface="Cambria"/>
              </a:rPr>
              <a:t>ẞ-</a:t>
            </a:r>
            <a:r>
              <a:rPr lang="tr-TR" sz="3300" spc="-114" dirty="0" err="1">
                <a:latin typeface="Cambria"/>
                <a:cs typeface="Cambria"/>
              </a:rPr>
              <a:t>catenin</a:t>
            </a:r>
            <a:r>
              <a:rPr sz="3300" spc="-55" dirty="0">
                <a:latin typeface="Cambria"/>
                <a:cs typeface="Cambria"/>
              </a:rPr>
              <a:t>	</a:t>
            </a:r>
            <a:r>
              <a:rPr sz="3300" spc="-45" dirty="0">
                <a:latin typeface="Cambria"/>
                <a:cs typeface="Cambria"/>
              </a:rPr>
              <a:t>signaling</a:t>
            </a:r>
            <a:r>
              <a:rPr sz="3300" spc="-125" dirty="0">
                <a:latin typeface="Cambria"/>
                <a:cs typeface="Cambria"/>
              </a:rPr>
              <a:t> </a:t>
            </a:r>
            <a:r>
              <a:rPr sz="3300" spc="-10" dirty="0">
                <a:latin typeface="Cambria"/>
                <a:cs typeface="Cambria"/>
              </a:rPr>
              <a:t>pathway.</a:t>
            </a:r>
            <a:endParaRPr sz="3300" dirty="0">
              <a:latin typeface="Cambria"/>
              <a:cs typeface="Cambria"/>
            </a:endParaRPr>
          </a:p>
          <a:p>
            <a:pPr marL="394970" indent="-327660">
              <a:lnSpc>
                <a:spcPts val="3165"/>
              </a:lnSpc>
              <a:buChar char="-"/>
              <a:tabLst>
                <a:tab pos="394970" algn="l"/>
              </a:tabLst>
            </a:pPr>
            <a:r>
              <a:rPr lang="en-US" sz="3300" spc="-120" dirty="0">
                <a:latin typeface="Cambria"/>
                <a:cs typeface="Cambria"/>
              </a:rPr>
              <a:t>Key Statistic: APC mutations found in</a:t>
            </a:r>
          </a:p>
          <a:p>
            <a:pPr marL="394970" indent="-327660">
              <a:lnSpc>
                <a:spcPts val="3165"/>
              </a:lnSpc>
              <a:buChar char="-"/>
              <a:tabLst>
                <a:tab pos="394970" algn="l"/>
              </a:tabLst>
            </a:pPr>
            <a:r>
              <a:rPr lang="en-US" sz="3300" spc="-120" dirty="0">
                <a:latin typeface="Cambria"/>
                <a:cs typeface="Cambria"/>
              </a:rPr>
              <a:t>81.9% of colorectal cancers; direct</a:t>
            </a:r>
          </a:p>
          <a:p>
            <a:pPr marL="394970" indent="-327660">
              <a:lnSpc>
                <a:spcPts val="3165"/>
              </a:lnSpc>
              <a:buChar char="-"/>
              <a:tabLst>
                <a:tab pos="394970" algn="l"/>
              </a:tabLst>
            </a:pPr>
            <a:r>
              <a:rPr lang="en-US" sz="3300" spc="-120" dirty="0">
                <a:latin typeface="Cambria"/>
                <a:cs typeface="Cambria"/>
              </a:rPr>
              <a:t>CTNNB1 mutations in 48%.</a:t>
            </a:r>
            <a:endParaRPr sz="4875" baseline="3418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33215" y="5832827"/>
            <a:ext cx="1676400" cy="66294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426720" marR="5080" indent="-414655">
              <a:lnSpc>
                <a:spcPts val="2350"/>
              </a:lnSpc>
              <a:spcBef>
                <a:spcPts val="440"/>
              </a:spcBef>
            </a:pPr>
            <a:r>
              <a:rPr sz="2200" spc="-275" dirty="0">
                <a:latin typeface="Arial MT"/>
                <a:cs typeface="Arial MT"/>
              </a:rPr>
              <a:t>APC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Mutations </a:t>
            </a:r>
            <a:r>
              <a:rPr sz="2200" spc="-10" dirty="0">
                <a:latin typeface="Arial MT"/>
                <a:cs typeface="Arial MT"/>
              </a:rPr>
              <a:t>(81.9P)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42725" y="2242608"/>
            <a:ext cx="93218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14" dirty="0">
                <a:latin typeface="Arial MT"/>
                <a:cs typeface="Arial MT"/>
              </a:rPr>
              <a:t>Frizzled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13700" y="4920191"/>
            <a:ext cx="11563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20" dirty="0">
                <a:latin typeface="Arial MT"/>
                <a:cs typeface="Arial MT"/>
              </a:rPr>
              <a:t>Nucleus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246083" y="7013927"/>
            <a:ext cx="1371600" cy="6565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33985" marR="5080" indent="-121920">
              <a:lnSpc>
                <a:spcPts val="2300"/>
              </a:lnSpc>
              <a:spcBef>
                <a:spcPts val="480"/>
              </a:spcBef>
            </a:pPr>
            <a:r>
              <a:rPr sz="2200" spc="-170" dirty="0">
                <a:latin typeface="Arial MT"/>
                <a:cs typeface="Arial MT"/>
              </a:rPr>
              <a:t>Target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204" dirty="0">
                <a:latin typeface="Arial MT"/>
                <a:cs typeface="Arial MT"/>
              </a:rPr>
              <a:t>Gene </a:t>
            </a:r>
            <a:r>
              <a:rPr sz="2200" spc="-10" dirty="0">
                <a:latin typeface="Arial MT"/>
                <a:cs typeface="Arial MT"/>
              </a:rPr>
              <a:t>Activation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4277" y="365477"/>
            <a:ext cx="5900420" cy="935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950" spc="-355" dirty="0">
                <a:solidFill>
                  <a:srgbClr val="113146"/>
                </a:solidFill>
                <a:latin typeface="Arial MT"/>
                <a:cs typeface="Arial MT"/>
              </a:rPr>
              <a:t>Research</a:t>
            </a:r>
            <a:r>
              <a:rPr sz="5950" spc="114" dirty="0">
                <a:solidFill>
                  <a:srgbClr val="113146"/>
                </a:solidFill>
                <a:latin typeface="Arial MT"/>
                <a:cs typeface="Arial MT"/>
              </a:rPr>
              <a:t> </a:t>
            </a:r>
            <a:r>
              <a:rPr sz="5950" spc="-285" dirty="0">
                <a:solidFill>
                  <a:srgbClr val="1C3B50"/>
                </a:solidFill>
                <a:latin typeface="Arial MT"/>
                <a:cs typeface="Arial MT"/>
              </a:rPr>
              <a:t>Question</a:t>
            </a:r>
            <a:endParaRPr sz="59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9162" y="2133600"/>
            <a:ext cx="13530649" cy="3693127"/>
          </a:xfrm>
          <a:prstGeom prst="rect">
            <a:avLst/>
          </a:prstGeom>
        </p:spPr>
        <p:txBody>
          <a:bodyPr vert="horz" wrap="square" lIns="0" tIns="205105" rIns="0" bIns="0" rtlCol="0">
            <a:spAutoFit/>
          </a:bodyPr>
          <a:lstStyle/>
          <a:p>
            <a:pPr marL="12065" marR="5080" algn="ctr">
              <a:lnSpc>
                <a:spcPct val="84200"/>
              </a:lnSpc>
              <a:spcBef>
                <a:spcPts val="1615"/>
              </a:spcBef>
            </a:pPr>
            <a:r>
              <a:rPr lang="en-US" sz="4400" spc="-180" dirty="0">
                <a:solidFill>
                  <a:srgbClr val="03213B"/>
                </a:solidFill>
                <a:latin typeface="Cambria"/>
                <a:cs typeface="Cambria"/>
              </a:rPr>
              <a:t>Can</a:t>
            </a:r>
            <a:r>
              <a:rPr lang="en-US" sz="4400" spc="-290" dirty="0">
                <a:solidFill>
                  <a:srgbClr val="03213B"/>
                </a:solidFill>
                <a:latin typeface="Cambria"/>
                <a:cs typeface="Cambria"/>
              </a:rPr>
              <a:t> </a:t>
            </a:r>
            <a:r>
              <a:rPr lang="en-US" sz="4400" spc="-204" dirty="0">
                <a:solidFill>
                  <a:srgbClr val="011126"/>
                </a:solidFill>
                <a:latin typeface="Cambria"/>
                <a:cs typeface="Cambria"/>
              </a:rPr>
              <a:t>potential</a:t>
            </a:r>
            <a:r>
              <a:rPr lang="en-US" sz="4400" spc="-195" dirty="0">
                <a:solidFill>
                  <a:srgbClr val="011126"/>
                </a:solidFill>
                <a:latin typeface="Cambria"/>
                <a:cs typeface="Cambria"/>
              </a:rPr>
              <a:t> </a:t>
            </a:r>
            <a:r>
              <a:rPr lang="en-US" sz="4400" spc="-190" dirty="0">
                <a:solidFill>
                  <a:srgbClr val="011C36"/>
                </a:solidFill>
                <a:latin typeface="Cambria"/>
                <a:cs typeface="Cambria"/>
              </a:rPr>
              <a:t>inhibitors</a:t>
            </a:r>
            <a:r>
              <a:rPr lang="en-US" sz="4400" spc="-165" dirty="0">
                <a:solidFill>
                  <a:srgbClr val="011C36"/>
                </a:solidFill>
                <a:latin typeface="Cambria"/>
                <a:cs typeface="Cambria"/>
              </a:rPr>
              <a:t> </a:t>
            </a:r>
            <a:r>
              <a:rPr lang="en-US" sz="4400" spc="-190" dirty="0">
                <a:solidFill>
                  <a:srgbClr val="081D34"/>
                </a:solidFill>
                <a:latin typeface="Cambria"/>
                <a:cs typeface="Cambria"/>
              </a:rPr>
              <a:t>targeting </a:t>
            </a:r>
            <a:r>
              <a:rPr lang="en-US" sz="4400" spc="-260" dirty="0">
                <a:solidFill>
                  <a:srgbClr val="03162F"/>
                </a:solidFill>
                <a:latin typeface="Cambria"/>
                <a:cs typeface="Cambria"/>
              </a:rPr>
              <a:t>disordered</a:t>
            </a:r>
            <a:r>
              <a:rPr lang="en-US" sz="4400" spc="-30" dirty="0">
                <a:solidFill>
                  <a:srgbClr val="03162F"/>
                </a:solidFill>
                <a:latin typeface="Cambria"/>
                <a:cs typeface="Cambria"/>
              </a:rPr>
              <a:t> </a:t>
            </a:r>
            <a:r>
              <a:rPr lang="tr-TR" sz="4400" spc="370" dirty="0">
                <a:solidFill>
                  <a:srgbClr val="000F26"/>
                </a:solidFill>
                <a:latin typeface="Cambria"/>
                <a:cs typeface="Cambria"/>
              </a:rPr>
              <a:t>M</a:t>
            </a:r>
            <a:r>
              <a:rPr lang="en-US" sz="4400" spc="370" dirty="0">
                <a:solidFill>
                  <a:srgbClr val="000F26"/>
                </a:solidFill>
                <a:latin typeface="Cambria"/>
                <a:cs typeface="Cambria"/>
              </a:rPr>
              <a:t>YC</a:t>
            </a:r>
            <a:r>
              <a:rPr lang="en-US" sz="4400" spc="-265" dirty="0">
                <a:solidFill>
                  <a:srgbClr val="000F26"/>
                </a:solidFill>
                <a:latin typeface="Cambria"/>
                <a:cs typeface="Cambria"/>
              </a:rPr>
              <a:t> </a:t>
            </a:r>
            <a:r>
              <a:rPr lang="en-US" sz="4400" spc="-180" dirty="0">
                <a:solidFill>
                  <a:srgbClr val="00162D"/>
                </a:solidFill>
                <a:latin typeface="Cambria"/>
                <a:cs typeface="Cambria"/>
              </a:rPr>
              <a:t>and</a:t>
            </a:r>
            <a:r>
              <a:rPr lang="en-US" sz="4400" spc="-270" dirty="0">
                <a:solidFill>
                  <a:srgbClr val="00162D"/>
                </a:solidFill>
                <a:latin typeface="Cambria"/>
                <a:cs typeface="Cambria"/>
              </a:rPr>
              <a:t> </a:t>
            </a:r>
            <a:r>
              <a:rPr lang="en-US" sz="4400" spc="-395" dirty="0">
                <a:solidFill>
                  <a:srgbClr val="001A33"/>
                </a:solidFill>
                <a:latin typeface="Cambria"/>
                <a:cs typeface="Cambria"/>
              </a:rPr>
              <a:t>CTNNB1 </a:t>
            </a:r>
            <a:r>
              <a:rPr lang="en-US" sz="4400" spc="-125" dirty="0">
                <a:solidFill>
                  <a:srgbClr val="03132A"/>
                </a:solidFill>
                <a:latin typeface="Cambria"/>
                <a:cs typeface="Cambria"/>
              </a:rPr>
              <a:t>oncoproteins</a:t>
            </a:r>
            <a:r>
              <a:rPr lang="en-US" sz="4400" spc="125" dirty="0">
                <a:solidFill>
                  <a:srgbClr val="03132A"/>
                </a:solidFill>
                <a:latin typeface="Cambria"/>
                <a:cs typeface="Cambria"/>
              </a:rPr>
              <a:t> </a:t>
            </a:r>
            <a:r>
              <a:rPr lang="en-US" sz="4400" spc="-245" dirty="0">
                <a:solidFill>
                  <a:srgbClr val="01112B"/>
                </a:solidFill>
                <a:latin typeface="Cambria"/>
                <a:cs typeface="Cambria"/>
              </a:rPr>
              <a:t>be</a:t>
            </a:r>
            <a:r>
              <a:rPr lang="en-US" sz="4400" spc="-185" dirty="0">
                <a:solidFill>
                  <a:srgbClr val="01112B"/>
                </a:solidFill>
                <a:latin typeface="Cambria"/>
                <a:cs typeface="Cambria"/>
              </a:rPr>
              <a:t> </a:t>
            </a:r>
            <a:r>
              <a:rPr lang="en-US" sz="4400" spc="-254" dirty="0">
                <a:solidFill>
                  <a:srgbClr val="051D3A"/>
                </a:solidFill>
                <a:latin typeface="Cambria"/>
                <a:cs typeface="Cambria"/>
              </a:rPr>
              <a:t>predicted</a:t>
            </a:r>
            <a:r>
              <a:rPr lang="en-US" sz="4400" spc="120" dirty="0">
                <a:solidFill>
                  <a:srgbClr val="051D3A"/>
                </a:solidFill>
                <a:latin typeface="Cambria"/>
                <a:cs typeface="Cambria"/>
              </a:rPr>
              <a:t> </a:t>
            </a:r>
            <a:r>
              <a:rPr lang="en-US" sz="4400" spc="-10" dirty="0">
                <a:solidFill>
                  <a:srgbClr val="031C38"/>
                </a:solidFill>
                <a:latin typeface="Cambria"/>
                <a:cs typeface="Cambria"/>
              </a:rPr>
              <a:t>using </a:t>
            </a:r>
            <a:r>
              <a:rPr lang="en-US" sz="4400" spc="-140" dirty="0">
                <a:solidFill>
                  <a:srgbClr val="051F3A"/>
                </a:solidFill>
                <a:latin typeface="Cambria"/>
                <a:cs typeface="Cambria"/>
              </a:rPr>
              <a:t>machine</a:t>
            </a:r>
            <a:r>
              <a:rPr lang="en-US" sz="4400" spc="-290" dirty="0">
                <a:solidFill>
                  <a:srgbClr val="051F3A"/>
                </a:solidFill>
                <a:latin typeface="Cambria"/>
                <a:cs typeface="Cambria"/>
              </a:rPr>
              <a:t> </a:t>
            </a:r>
            <a:r>
              <a:rPr lang="en-US" sz="4400" spc="-120" dirty="0">
                <a:solidFill>
                  <a:srgbClr val="03182D"/>
                </a:solidFill>
                <a:latin typeface="Cambria"/>
                <a:cs typeface="Cambria"/>
              </a:rPr>
              <a:t>learning</a:t>
            </a:r>
            <a:r>
              <a:rPr lang="en-US" sz="4400" spc="-204" dirty="0">
                <a:solidFill>
                  <a:srgbClr val="03182D"/>
                </a:solidFill>
                <a:latin typeface="Cambria"/>
                <a:cs typeface="Cambria"/>
              </a:rPr>
              <a:t> </a:t>
            </a:r>
            <a:r>
              <a:rPr lang="en-US" sz="4400" spc="-190" dirty="0">
                <a:solidFill>
                  <a:srgbClr val="011A36"/>
                </a:solidFill>
                <a:latin typeface="Cambria"/>
                <a:cs typeface="Cambria"/>
              </a:rPr>
              <a:t>models</a:t>
            </a:r>
            <a:r>
              <a:rPr lang="en-US" sz="4400" spc="-240" dirty="0">
                <a:solidFill>
                  <a:srgbClr val="011A36"/>
                </a:solidFill>
                <a:latin typeface="Cambria"/>
                <a:cs typeface="Cambria"/>
              </a:rPr>
              <a:t> </a:t>
            </a:r>
            <a:r>
              <a:rPr lang="en-US" sz="4400" spc="-10" dirty="0">
                <a:solidFill>
                  <a:srgbClr val="071A33"/>
                </a:solidFill>
                <a:latin typeface="Cambria"/>
                <a:cs typeface="Cambria"/>
              </a:rPr>
              <a:t>based </a:t>
            </a:r>
            <a:r>
              <a:rPr lang="en-US" sz="4400" spc="-45" dirty="0">
                <a:solidFill>
                  <a:srgbClr val="03162A"/>
                </a:solidFill>
                <a:latin typeface="Cambria"/>
                <a:cs typeface="Cambria"/>
              </a:rPr>
              <a:t>on</a:t>
            </a:r>
            <a:r>
              <a:rPr lang="en-US" sz="4400" spc="-365" dirty="0">
                <a:solidFill>
                  <a:srgbClr val="03162A"/>
                </a:solidFill>
                <a:latin typeface="Cambria"/>
                <a:cs typeface="Cambria"/>
              </a:rPr>
              <a:t> </a:t>
            </a:r>
            <a:r>
              <a:rPr lang="en-US" sz="4400" spc="90" dirty="0" err="1">
                <a:solidFill>
                  <a:srgbClr val="031A31"/>
                </a:solidFill>
                <a:latin typeface="Cambria"/>
                <a:cs typeface="Cambria"/>
              </a:rPr>
              <a:t>bioactivi</a:t>
            </a:r>
            <a:r>
              <a:rPr lang="tr-TR" sz="4400" spc="90" dirty="0" err="1">
                <a:solidFill>
                  <a:srgbClr val="031A31"/>
                </a:solidFill>
                <a:latin typeface="Cambria"/>
                <a:cs typeface="Cambria"/>
              </a:rPr>
              <a:t>ty</a:t>
            </a:r>
            <a:r>
              <a:rPr lang="en-US" sz="4400" spc="-25" dirty="0">
                <a:solidFill>
                  <a:srgbClr val="031A31"/>
                </a:solidFill>
                <a:latin typeface="Cambria"/>
                <a:cs typeface="Cambria"/>
              </a:rPr>
              <a:t> </a:t>
            </a:r>
            <a:r>
              <a:rPr lang="en-US" sz="4400" spc="-20" dirty="0">
                <a:solidFill>
                  <a:srgbClr val="05162F"/>
                </a:solidFill>
                <a:latin typeface="Cambria"/>
                <a:cs typeface="Cambria"/>
              </a:rPr>
              <a:t>data?</a:t>
            </a:r>
            <a:endParaRPr lang="en-US" sz="4400" dirty="0">
              <a:latin typeface="Cambria"/>
              <a:cs typeface="Cambria"/>
            </a:endParaRPr>
          </a:p>
          <a:p>
            <a:pPr marL="102870" algn="ctr">
              <a:lnSpc>
                <a:spcPts val="4760"/>
              </a:lnSpc>
              <a:spcBef>
                <a:spcPts val="4900"/>
              </a:spcBef>
            </a:pPr>
            <a:r>
              <a:rPr lang="en-US" sz="3600" spc="-85" dirty="0">
                <a:latin typeface="Arial MT"/>
                <a:cs typeface="Arial MT"/>
              </a:rPr>
              <a:t>Shifting</a:t>
            </a:r>
            <a:r>
              <a:rPr lang="en-US" sz="3600" spc="-200" dirty="0">
                <a:latin typeface="Arial MT"/>
                <a:cs typeface="Arial MT"/>
              </a:rPr>
              <a:t> </a:t>
            </a:r>
            <a:r>
              <a:rPr lang="en-US" sz="3600" spc="-130" dirty="0">
                <a:latin typeface="Arial MT"/>
                <a:cs typeface="Arial MT"/>
              </a:rPr>
              <a:t>the</a:t>
            </a:r>
            <a:r>
              <a:rPr lang="en-US" sz="3600" spc="-155" dirty="0">
                <a:latin typeface="Arial MT"/>
                <a:cs typeface="Arial MT"/>
              </a:rPr>
              <a:t> </a:t>
            </a:r>
            <a:r>
              <a:rPr lang="en-US" sz="3600" spc="-120" dirty="0">
                <a:latin typeface="Arial MT"/>
                <a:cs typeface="Arial MT"/>
              </a:rPr>
              <a:t>paradigm</a:t>
            </a:r>
            <a:r>
              <a:rPr lang="en-US" sz="3600" spc="-55" dirty="0">
                <a:latin typeface="Arial MT"/>
                <a:cs typeface="Arial MT"/>
              </a:rPr>
              <a:t> </a:t>
            </a:r>
            <a:r>
              <a:rPr lang="en-US" sz="3600" dirty="0">
                <a:latin typeface="Arial MT"/>
                <a:cs typeface="Arial MT"/>
              </a:rPr>
              <a:t>from</a:t>
            </a:r>
            <a:r>
              <a:rPr lang="en-US" sz="3600" spc="-120" dirty="0">
                <a:latin typeface="Arial MT"/>
                <a:cs typeface="Arial MT"/>
              </a:rPr>
              <a:t> </a:t>
            </a:r>
            <a:r>
              <a:rPr lang="en-US" sz="3600" spc="-135" dirty="0">
                <a:latin typeface="Arial MT"/>
                <a:cs typeface="Arial MT"/>
              </a:rPr>
              <a:t>structure-</a:t>
            </a:r>
            <a:r>
              <a:rPr lang="en-US" sz="3600" spc="-140" dirty="0">
                <a:latin typeface="Arial MT"/>
                <a:cs typeface="Arial MT"/>
              </a:rPr>
              <a:t>based </a:t>
            </a:r>
            <a:r>
              <a:rPr lang="en-US" sz="3600" spc="-45" dirty="0">
                <a:latin typeface="Arial MT"/>
                <a:cs typeface="Arial MT"/>
              </a:rPr>
              <a:t>search</a:t>
            </a:r>
            <a:endParaRPr lang="en-US" sz="3600" dirty="0">
              <a:latin typeface="Arial MT"/>
              <a:cs typeface="Arial MT"/>
            </a:endParaRPr>
          </a:p>
          <a:p>
            <a:pPr marL="81280" algn="ctr">
              <a:lnSpc>
                <a:spcPts val="4640"/>
              </a:lnSpc>
            </a:pP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80" dirty="0">
                <a:latin typeface="Arial MT"/>
                <a:cs typeface="Arial MT"/>
              </a:rPr>
              <a:t> </a:t>
            </a:r>
            <a:r>
              <a:rPr sz="3200" spc="-160" dirty="0">
                <a:latin typeface="Arial MT"/>
                <a:cs typeface="Arial MT"/>
              </a:rPr>
              <a:t>data-</a:t>
            </a:r>
            <a:r>
              <a:rPr sz="3200" spc="-80" dirty="0">
                <a:latin typeface="Arial MT"/>
                <a:cs typeface="Arial MT"/>
              </a:rPr>
              <a:t>driven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bioactivity </a:t>
            </a:r>
            <a:r>
              <a:rPr sz="3200" spc="-10" dirty="0">
                <a:latin typeface="Arial MT"/>
                <a:cs typeface="Arial MT"/>
              </a:rPr>
              <a:t>prediction.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FC1A5B2-91FC-13EA-0919-D74416513CE8}"/>
              </a:ext>
            </a:extLst>
          </p:cNvPr>
          <p:cNvSpPr txBox="1"/>
          <p:nvPr/>
        </p:nvSpPr>
        <p:spPr>
          <a:xfrm>
            <a:off x="660400" y="8077200"/>
            <a:ext cx="975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research was developed within the scope of the </a:t>
            </a:r>
            <a:r>
              <a:rPr lang="en-US" u="sng" dirty="0"/>
              <a:t>TÜBİTAK 2209-A </a:t>
            </a:r>
            <a:r>
              <a:rPr lang="en-US" dirty="0"/>
              <a:t>Undergraduate Students Research Projects Support Program for the 2025 first-period application.</a:t>
            </a:r>
            <a:endParaRPr lang="tr-T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b="3789"/>
          <a:stretch>
            <a:fillRect/>
          </a:stretch>
        </p:blipFill>
        <p:spPr>
          <a:xfrm>
            <a:off x="0" y="3949700"/>
            <a:ext cx="17475200" cy="58039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0817" y="1713441"/>
            <a:ext cx="5983605" cy="1822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5"/>
              </a:spcBef>
            </a:pPr>
            <a:r>
              <a:rPr sz="3950" spc="-215" dirty="0">
                <a:solidFill>
                  <a:srgbClr val="0A2333"/>
                </a:solidFill>
                <a:latin typeface="Arial MT"/>
                <a:cs typeface="Arial MT"/>
              </a:rPr>
              <a:t>The</a:t>
            </a:r>
            <a:r>
              <a:rPr sz="3950" spc="-300" dirty="0">
                <a:solidFill>
                  <a:srgbClr val="0A2333"/>
                </a:solidFill>
                <a:latin typeface="Arial MT"/>
                <a:cs typeface="Arial MT"/>
              </a:rPr>
              <a:t> </a:t>
            </a:r>
            <a:r>
              <a:rPr sz="3950" spc="-30" dirty="0">
                <a:solidFill>
                  <a:srgbClr val="212121"/>
                </a:solidFill>
                <a:latin typeface="Arial MT"/>
                <a:cs typeface="Arial MT"/>
              </a:rPr>
              <a:t>Proposition</a:t>
            </a:r>
            <a:endParaRPr sz="3950" dirty="0">
              <a:latin typeface="Arial MT"/>
              <a:cs typeface="Arial MT"/>
            </a:endParaRPr>
          </a:p>
          <a:p>
            <a:pPr marL="26670" marR="5080" indent="-14604">
              <a:lnSpc>
                <a:spcPct val="84500"/>
              </a:lnSpc>
              <a:spcBef>
                <a:spcPts val="775"/>
              </a:spcBef>
            </a:pPr>
            <a:r>
              <a:rPr sz="2800" spc="-10" dirty="0">
                <a:latin typeface="Cambria"/>
                <a:cs typeface="Cambria"/>
              </a:rPr>
              <a:t>ML</a:t>
            </a:r>
            <a:r>
              <a:rPr sz="2800" spc="-180" dirty="0">
                <a:latin typeface="Cambria"/>
                <a:cs typeface="Cambria"/>
              </a:rPr>
              <a:t> </a:t>
            </a:r>
            <a:r>
              <a:rPr sz="2800" spc="-130" dirty="0">
                <a:latin typeface="Cambria"/>
                <a:cs typeface="Cambria"/>
              </a:rPr>
              <a:t>models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45" dirty="0">
                <a:latin typeface="Cambria"/>
                <a:cs typeface="Cambria"/>
              </a:rPr>
              <a:t>trained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80" dirty="0">
                <a:latin typeface="Cambria"/>
                <a:cs typeface="Cambria"/>
              </a:rPr>
              <a:t>on</a:t>
            </a:r>
            <a:r>
              <a:rPr sz="2800" spc="-85" dirty="0">
                <a:latin typeface="Cambria"/>
                <a:cs typeface="Cambria"/>
              </a:rPr>
              <a:t> </a:t>
            </a:r>
            <a:r>
              <a:rPr sz="2800" spc="-95" dirty="0">
                <a:latin typeface="Cambria"/>
                <a:cs typeface="Cambria"/>
              </a:rPr>
              <a:t>large-</a:t>
            </a:r>
            <a:r>
              <a:rPr sz="2800" spc="-10" dirty="0">
                <a:latin typeface="Cambria"/>
                <a:cs typeface="Cambria"/>
              </a:rPr>
              <a:t>scale </a:t>
            </a:r>
            <a:r>
              <a:rPr sz="2800" spc="-105" dirty="0">
                <a:latin typeface="Cambria"/>
                <a:cs typeface="Cambria"/>
              </a:rPr>
              <a:t>bioactivity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114" dirty="0">
                <a:latin typeface="Cambria"/>
                <a:cs typeface="Cambria"/>
              </a:rPr>
              <a:t>data</a:t>
            </a:r>
            <a:r>
              <a:rPr sz="2800" spc="-160" dirty="0">
                <a:latin typeface="Cambria"/>
                <a:cs typeface="Cambria"/>
              </a:rPr>
              <a:t> </a:t>
            </a:r>
            <a:r>
              <a:rPr sz="2800" spc="-65" dirty="0">
                <a:latin typeface="Cambria"/>
                <a:cs typeface="Cambria"/>
              </a:rPr>
              <a:t>can</a:t>
            </a:r>
            <a:r>
              <a:rPr sz="2800" spc="-105" dirty="0">
                <a:latin typeface="Cambria"/>
                <a:cs typeface="Cambria"/>
              </a:rPr>
              <a:t> identify</a:t>
            </a:r>
            <a:r>
              <a:rPr sz="2800" spc="-15" dirty="0">
                <a:latin typeface="Cambria"/>
                <a:cs typeface="Cambria"/>
              </a:rPr>
              <a:t> </a:t>
            </a:r>
            <a:r>
              <a:rPr sz="2800" spc="-125" dirty="0">
                <a:latin typeface="Cambria"/>
                <a:cs typeface="Cambria"/>
              </a:rPr>
              <a:t>binders independent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-110" dirty="0">
                <a:latin typeface="Cambria"/>
                <a:cs typeface="Cambria"/>
              </a:rPr>
              <a:t> protein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shape.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10856" y="363008"/>
            <a:ext cx="3555365" cy="94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50" spc="-215" dirty="0">
                <a:solidFill>
                  <a:srgbClr val="1A3A4F"/>
                </a:solidFill>
                <a:latin typeface="Arial MT"/>
                <a:cs typeface="Arial MT"/>
              </a:rPr>
              <a:t>Hypothesis</a:t>
            </a:r>
            <a:endParaRPr sz="6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7289" y="2592916"/>
            <a:ext cx="3230880" cy="9810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6830">
              <a:lnSpc>
                <a:spcPts val="3804"/>
              </a:lnSpc>
              <a:spcBef>
                <a:spcPts val="130"/>
              </a:spcBef>
            </a:pPr>
            <a:r>
              <a:rPr sz="3300" spc="-40" dirty="0">
                <a:solidFill>
                  <a:srgbClr val="54978E"/>
                </a:solidFill>
                <a:latin typeface="Arial MT"/>
                <a:cs typeface="Arial MT"/>
              </a:rPr>
              <a:t>Bioactivity-</a:t>
            </a:r>
            <a:r>
              <a:rPr sz="3300" spc="-10" dirty="0">
                <a:solidFill>
                  <a:srgbClr val="54978E"/>
                </a:solidFill>
                <a:latin typeface="Arial MT"/>
                <a:cs typeface="Arial MT"/>
              </a:rPr>
              <a:t>Based</a:t>
            </a:r>
            <a:endParaRPr sz="33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solidFill>
                  <a:srgbClr val="5B9E97"/>
                </a:solidFill>
                <a:latin typeface="Arial MT"/>
                <a:cs typeface="Arial MT"/>
              </a:rPr>
              <a:t>Machine</a:t>
            </a:r>
            <a:r>
              <a:rPr sz="3200" spc="-114" dirty="0">
                <a:solidFill>
                  <a:srgbClr val="5B9E97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5B9C97"/>
                </a:solidFill>
                <a:latin typeface="Arial MT"/>
                <a:cs typeface="Arial MT"/>
              </a:rPr>
              <a:t>Learning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6644" y="7772400"/>
            <a:ext cx="5932170" cy="179895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 indent="-21590" algn="ctr">
              <a:lnSpc>
                <a:spcPts val="3350"/>
              </a:lnSpc>
              <a:spcBef>
                <a:spcPts val="750"/>
              </a:spcBef>
            </a:pPr>
            <a:r>
              <a:rPr lang="en-US" sz="3300" spc="-10" dirty="0">
                <a:latin typeface="Cambria"/>
                <a:cs typeface="Cambria"/>
              </a:rPr>
              <a:t>Scientific</a:t>
            </a:r>
            <a:r>
              <a:rPr lang="en-US" sz="3300" spc="-70" dirty="0">
                <a:latin typeface="Cambria"/>
                <a:cs typeface="Cambria"/>
              </a:rPr>
              <a:t> </a:t>
            </a:r>
            <a:r>
              <a:rPr lang="en-US" sz="3300" spc="-95" dirty="0">
                <a:latin typeface="Cambria"/>
                <a:cs typeface="Cambria"/>
              </a:rPr>
              <a:t>Precedent:</a:t>
            </a:r>
            <a:r>
              <a:rPr lang="en-US" sz="3300" spc="-85" dirty="0">
                <a:latin typeface="Cambria"/>
                <a:cs typeface="Cambria"/>
              </a:rPr>
              <a:t> </a:t>
            </a:r>
            <a:r>
              <a:rPr lang="en-US" sz="3300" spc="-65" dirty="0">
                <a:latin typeface="Cambria"/>
                <a:cs typeface="Cambria"/>
              </a:rPr>
              <a:t>Experimental </a:t>
            </a:r>
            <a:r>
              <a:rPr lang="en-US" sz="3300" spc="-75" dirty="0">
                <a:latin typeface="Cambria"/>
                <a:cs typeface="Cambria"/>
              </a:rPr>
              <a:t>confirmation</a:t>
            </a:r>
            <a:r>
              <a:rPr lang="en-US" sz="3300" spc="-60" dirty="0">
                <a:latin typeface="Cambria"/>
                <a:cs typeface="Cambria"/>
              </a:rPr>
              <a:t> </a:t>
            </a:r>
            <a:r>
              <a:rPr lang="en-US" sz="3300" spc="-30" dirty="0">
                <a:latin typeface="Cambria"/>
                <a:cs typeface="Cambria"/>
              </a:rPr>
              <a:t>of</a:t>
            </a:r>
            <a:r>
              <a:rPr lang="en-US" sz="3300" spc="-145" dirty="0">
                <a:latin typeface="Cambria"/>
                <a:cs typeface="Cambria"/>
              </a:rPr>
              <a:t> </a:t>
            </a:r>
            <a:r>
              <a:rPr lang="en-US" sz="3300" spc="-90" dirty="0" err="1">
                <a:latin typeface="Cambria"/>
                <a:cs typeface="Cambria"/>
              </a:rPr>
              <a:t>druggability</a:t>
            </a:r>
            <a:r>
              <a:rPr lang="en-US" sz="3300" spc="-90" dirty="0">
                <a:latin typeface="Cambria"/>
                <a:cs typeface="Cambria"/>
              </a:rPr>
              <a:t> </a:t>
            </a:r>
            <a:r>
              <a:rPr lang="en-US" sz="3300" spc="-55" dirty="0">
                <a:latin typeface="Cambria"/>
                <a:cs typeface="Cambria"/>
              </a:rPr>
              <a:t>exists.</a:t>
            </a:r>
            <a:endParaRPr lang="en-US" sz="3300" dirty="0">
              <a:latin typeface="Cambria"/>
              <a:cs typeface="Cambria"/>
            </a:endParaRPr>
          </a:p>
          <a:p>
            <a:pPr marL="271145" indent="-263525" algn="ctr">
              <a:lnSpc>
                <a:spcPts val="2925"/>
              </a:lnSpc>
              <a:buChar char="-"/>
              <a:tabLst>
                <a:tab pos="271145" algn="l"/>
              </a:tabLst>
            </a:pPr>
            <a:r>
              <a:rPr lang="en-US" sz="3450" spc="-180" dirty="0" err="1">
                <a:latin typeface="Cambria"/>
                <a:cs typeface="Cambria"/>
              </a:rPr>
              <a:t>Lehrich</a:t>
            </a:r>
            <a:r>
              <a:rPr lang="en-US" sz="3450" spc="30" dirty="0">
                <a:latin typeface="Cambria"/>
                <a:cs typeface="Cambria"/>
              </a:rPr>
              <a:t> </a:t>
            </a:r>
            <a:r>
              <a:rPr lang="en-US" sz="3450" spc="-195" dirty="0">
                <a:latin typeface="Cambria"/>
                <a:cs typeface="Cambria"/>
              </a:rPr>
              <a:t>et</a:t>
            </a:r>
            <a:r>
              <a:rPr lang="en-US" sz="3450" spc="-100" dirty="0">
                <a:latin typeface="Cambria"/>
                <a:cs typeface="Cambria"/>
              </a:rPr>
              <a:t> </a:t>
            </a:r>
            <a:r>
              <a:rPr lang="en-US" sz="3450" spc="-80" dirty="0">
                <a:latin typeface="Cambria"/>
                <a:cs typeface="Cambria"/>
              </a:rPr>
              <a:t>al.</a:t>
            </a:r>
            <a:r>
              <a:rPr lang="en-US" sz="3450" spc="-265" dirty="0">
                <a:latin typeface="Cambria"/>
                <a:cs typeface="Cambria"/>
              </a:rPr>
              <a:t> </a:t>
            </a:r>
            <a:r>
              <a:rPr lang="tr-TR" sz="3450" spc="-265" dirty="0">
                <a:latin typeface="Cambria"/>
                <a:cs typeface="Cambria"/>
              </a:rPr>
              <a:t>(</a:t>
            </a:r>
            <a:r>
              <a:rPr lang="en-US" sz="3450" spc="-110" dirty="0">
                <a:latin typeface="Cambria"/>
                <a:cs typeface="Cambria"/>
              </a:rPr>
              <a:t>ẞ-catenin</a:t>
            </a:r>
            <a:r>
              <a:rPr lang="en-US" sz="3450" spc="-10" dirty="0">
                <a:latin typeface="Cambria"/>
                <a:cs typeface="Cambria"/>
              </a:rPr>
              <a:t>)</a:t>
            </a:r>
            <a:endParaRPr lang="en-US" sz="3450" dirty="0">
              <a:latin typeface="Cambria"/>
              <a:cs typeface="Cambria"/>
            </a:endParaRPr>
          </a:p>
          <a:p>
            <a:pPr marL="285750" indent="-265430" algn="ctr">
              <a:lnSpc>
                <a:spcPts val="3685"/>
              </a:lnSpc>
              <a:buChar char="-"/>
              <a:tabLst>
                <a:tab pos="285750" algn="l"/>
              </a:tabLst>
            </a:pPr>
            <a:r>
              <a:rPr lang="en-US" sz="3400" spc="-110" dirty="0">
                <a:latin typeface="Cambria"/>
                <a:cs typeface="Cambria"/>
              </a:rPr>
              <a:t>Singh </a:t>
            </a:r>
            <a:r>
              <a:rPr lang="en-US" sz="3400" spc="-130" dirty="0">
                <a:latin typeface="Cambria"/>
                <a:cs typeface="Cambria"/>
              </a:rPr>
              <a:t>et</a:t>
            </a:r>
            <a:r>
              <a:rPr lang="en-US" sz="3400" spc="-70" dirty="0">
                <a:latin typeface="Cambria"/>
                <a:cs typeface="Cambria"/>
              </a:rPr>
              <a:t> </a:t>
            </a:r>
            <a:r>
              <a:rPr lang="en-US" sz="3400" spc="-110" dirty="0">
                <a:latin typeface="Cambria"/>
                <a:cs typeface="Cambria"/>
              </a:rPr>
              <a:t>al. </a:t>
            </a:r>
            <a:r>
              <a:rPr lang="en-US" sz="3400" spc="-175" dirty="0">
                <a:latin typeface="Cambria"/>
                <a:cs typeface="Cambria"/>
              </a:rPr>
              <a:t>(MYC</a:t>
            </a:r>
            <a:r>
              <a:rPr lang="en-US" sz="3400" spc="-30" dirty="0">
                <a:latin typeface="Cambria"/>
                <a:cs typeface="Cambria"/>
              </a:rPr>
              <a:t> </a:t>
            </a:r>
            <a:r>
              <a:rPr lang="en-US" sz="3400" spc="-50" dirty="0">
                <a:latin typeface="Cambria"/>
                <a:cs typeface="Cambria"/>
              </a:rPr>
              <a:t>protein)</a:t>
            </a:r>
            <a:endParaRPr lang="en-US" sz="34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95200" y="1742446"/>
            <a:ext cx="4317365" cy="20193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20"/>
              </a:spcBef>
            </a:pPr>
            <a:r>
              <a:rPr sz="3800" spc="-165" dirty="0">
                <a:solidFill>
                  <a:srgbClr val="0F2D3D"/>
                </a:solidFill>
                <a:latin typeface="Arial MT"/>
                <a:cs typeface="Arial MT"/>
              </a:rPr>
              <a:t>The </a:t>
            </a:r>
            <a:r>
              <a:rPr sz="3800" spc="-20" dirty="0">
                <a:solidFill>
                  <a:srgbClr val="0C1F31"/>
                </a:solidFill>
                <a:latin typeface="Arial MT"/>
                <a:cs typeface="Arial MT"/>
              </a:rPr>
              <a:t>Goal</a:t>
            </a:r>
            <a:endParaRPr sz="3800" dirty="0">
              <a:latin typeface="Arial MT"/>
              <a:cs typeface="Arial MT"/>
            </a:endParaRPr>
          </a:p>
          <a:p>
            <a:pPr marL="12700" marR="5080" algn="ctr">
              <a:lnSpc>
                <a:spcPct val="83200"/>
              </a:lnSpc>
              <a:spcBef>
                <a:spcPts val="855"/>
              </a:spcBef>
            </a:pPr>
            <a:r>
              <a:rPr lang="en-US" sz="2800" spc="-135" dirty="0">
                <a:latin typeface="Cambria"/>
                <a:cs typeface="Cambria"/>
              </a:rPr>
              <a:t>Demonstrate applicability</a:t>
            </a:r>
          </a:p>
          <a:p>
            <a:pPr marL="12700" marR="5080" algn="ctr">
              <a:lnSpc>
                <a:spcPct val="83200"/>
              </a:lnSpc>
              <a:spcBef>
                <a:spcPts val="855"/>
              </a:spcBef>
            </a:pPr>
            <a:r>
              <a:rPr lang="en-US" sz="2800" spc="-135" dirty="0">
                <a:latin typeface="Cambria"/>
                <a:cs typeface="Cambria"/>
              </a:rPr>
              <a:t>of ML strategies for MҮC</a:t>
            </a:r>
          </a:p>
          <a:p>
            <a:pPr marL="12700" marR="5080" algn="ctr">
              <a:lnSpc>
                <a:spcPct val="83200"/>
              </a:lnSpc>
              <a:spcBef>
                <a:spcPts val="855"/>
              </a:spcBef>
            </a:pPr>
            <a:r>
              <a:rPr lang="en-US" sz="2800" spc="-135" dirty="0">
                <a:latin typeface="Cambria"/>
                <a:cs typeface="Cambria"/>
              </a:rPr>
              <a:t>and ẞ-catenin.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0" y="8026400"/>
            <a:ext cx="4838700" cy="1104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03500" y="4000500"/>
            <a:ext cx="1701800" cy="1574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1900" y="8026400"/>
            <a:ext cx="4838700" cy="1104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59700" y="4038600"/>
            <a:ext cx="1968500" cy="1524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33200" y="8940800"/>
            <a:ext cx="4800600" cy="177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63400" y="8039100"/>
            <a:ext cx="4152900" cy="444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77900" y="5308600"/>
            <a:ext cx="723900" cy="21590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30816" y="1849967"/>
            <a:ext cx="0" cy="7091045"/>
          </a:xfrm>
          <a:custGeom>
            <a:avLst/>
            <a:gdLst/>
            <a:ahLst/>
            <a:cxnLst/>
            <a:rect l="l" t="t" r="r" b="b"/>
            <a:pathLst>
              <a:path h="7091045">
                <a:moveTo>
                  <a:pt x="0" y="70908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867400" y="1811867"/>
            <a:ext cx="55244" cy="7179945"/>
            <a:chOff x="5867400" y="1811867"/>
            <a:chExt cx="55244" cy="7179945"/>
          </a:xfrm>
        </p:grpSpPr>
        <p:sp>
          <p:nvSpPr>
            <p:cNvPr id="11" name="object 11"/>
            <p:cNvSpPr/>
            <p:nvPr/>
          </p:nvSpPr>
          <p:spPr>
            <a:xfrm>
              <a:off x="5869516" y="1811867"/>
              <a:ext cx="0" cy="7179945"/>
            </a:xfrm>
            <a:custGeom>
              <a:avLst/>
              <a:gdLst/>
              <a:ahLst/>
              <a:cxnLst/>
              <a:rect l="l" t="t" r="r" b="b"/>
              <a:pathLst>
                <a:path h="7179945">
                  <a:moveTo>
                    <a:pt x="0" y="7179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07616" y="1888067"/>
              <a:ext cx="0" cy="7052945"/>
            </a:xfrm>
            <a:custGeom>
              <a:avLst/>
              <a:gdLst/>
              <a:ahLst/>
              <a:cxnLst/>
              <a:rect l="l" t="t" r="r" b="b"/>
              <a:pathLst>
                <a:path h="7052945">
                  <a:moveTo>
                    <a:pt x="0" y="705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20316" y="1976967"/>
              <a:ext cx="0" cy="6849745"/>
            </a:xfrm>
            <a:custGeom>
              <a:avLst/>
              <a:gdLst/>
              <a:ahLst/>
              <a:cxnLst/>
              <a:rect l="l" t="t" r="r" b="b"/>
              <a:pathLst>
                <a:path h="6849745">
                  <a:moveTo>
                    <a:pt x="0" y="6849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2529416" y="8174566"/>
            <a:ext cx="0" cy="639445"/>
          </a:xfrm>
          <a:custGeom>
            <a:avLst/>
            <a:gdLst/>
            <a:ahLst/>
            <a:cxnLst/>
            <a:rect l="l" t="t" r="r" b="b"/>
            <a:pathLst>
              <a:path h="639445">
                <a:moveTo>
                  <a:pt x="0" y="6392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17600" y="1788583"/>
            <a:ext cx="4728845" cy="0"/>
          </a:xfrm>
          <a:custGeom>
            <a:avLst/>
            <a:gdLst/>
            <a:ahLst/>
            <a:cxnLst/>
            <a:rect l="l" t="t" r="r" b="b"/>
            <a:pathLst>
              <a:path w="4728845">
                <a:moveTo>
                  <a:pt x="0" y="0"/>
                </a:moveTo>
                <a:lnTo>
                  <a:pt x="4728633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14016" y="1849967"/>
            <a:ext cx="0" cy="7116445"/>
          </a:xfrm>
          <a:custGeom>
            <a:avLst/>
            <a:gdLst/>
            <a:ahLst/>
            <a:cxnLst/>
            <a:rect l="l" t="t" r="r" b="b"/>
            <a:pathLst>
              <a:path h="7116445">
                <a:moveTo>
                  <a:pt x="0" y="71162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9" name="object 49"/>
          <p:cNvGrpSpPr/>
          <p:nvPr/>
        </p:nvGrpSpPr>
        <p:grpSpPr>
          <a:xfrm>
            <a:off x="11150600" y="1811867"/>
            <a:ext cx="55244" cy="7179945"/>
            <a:chOff x="11150600" y="1811867"/>
            <a:chExt cx="55244" cy="7179945"/>
          </a:xfrm>
        </p:grpSpPr>
        <p:sp>
          <p:nvSpPr>
            <p:cNvPr id="50" name="object 50"/>
            <p:cNvSpPr/>
            <p:nvPr/>
          </p:nvSpPr>
          <p:spPr>
            <a:xfrm>
              <a:off x="11152716" y="1811867"/>
              <a:ext cx="0" cy="7179945"/>
            </a:xfrm>
            <a:custGeom>
              <a:avLst/>
              <a:gdLst/>
              <a:ahLst/>
              <a:cxnLst/>
              <a:rect l="l" t="t" r="r" b="b"/>
              <a:pathLst>
                <a:path h="7179945">
                  <a:moveTo>
                    <a:pt x="0" y="7179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190816" y="1875367"/>
              <a:ext cx="0" cy="7065645"/>
            </a:xfrm>
            <a:custGeom>
              <a:avLst/>
              <a:gdLst/>
              <a:ahLst/>
              <a:cxnLst/>
              <a:rect l="l" t="t" r="r" b="b"/>
              <a:pathLst>
                <a:path h="7065645">
                  <a:moveTo>
                    <a:pt x="0" y="706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203516" y="1938867"/>
              <a:ext cx="0" cy="6925945"/>
            </a:xfrm>
            <a:custGeom>
              <a:avLst/>
              <a:gdLst/>
              <a:ahLst/>
              <a:cxnLst/>
              <a:rect l="l" t="t" r="r" b="b"/>
              <a:pathLst>
                <a:path h="6925945">
                  <a:moveTo>
                    <a:pt x="0" y="6925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/>
          <p:nvPr/>
        </p:nvSpPr>
        <p:spPr>
          <a:xfrm>
            <a:off x="6339416" y="1837267"/>
            <a:ext cx="0" cy="2531745"/>
          </a:xfrm>
          <a:custGeom>
            <a:avLst/>
            <a:gdLst/>
            <a:ahLst/>
            <a:cxnLst/>
            <a:rect l="l" t="t" r="r" b="b"/>
            <a:pathLst>
              <a:path h="2531745">
                <a:moveTo>
                  <a:pt x="0" y="25315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041216" y="8123766"/>
            <a:ext cx="0" cy="639445"/>
          </a:xfrm>
          <a:custGeom>
            <a:avLst/>
            <a:gdLst/>
            <a:ahLst/>
            <a:cxnLst/>
            <a:rect l="l" t="t" r="r" b="b"/>
            <a:pathLst>
              <a:path h="639445">
                <a:moveTo>
                  <a:pt x="0" y="6392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307916" y="4262966"/>
            <a:ext cx="0" cy="664845"/>
          </a:xfrm>
          <a:custGeom>
            <a:avLst/>
            <a:gdLst/>
            <a:ahLst/>
            <a:cxnLst/>
            <a:rect l="l" t="t" r="r" b="b"/>
            <a:pathLst>
              <a:path h="664845">
                <a:moveTo>
                  <a:pt x="0" y="6646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4" name="object 74"/>
          <p:cNvGrpSpPr/>
          <p:nvPr/>
        </p:nvGrpSpPr>
        <p:grpSpPr>
          <a:xfrm>
            <a:off x="9169400" y="4199466"/>
            <a:ext cx="67945" cy="1058545"/>
            <a:chOff x="9169400" y="4199466"/>
            <a:chExt cx="67945" cy="1058545"/>
          </a:xfrm>
        </p:grpSpPr>
        <p:sp>
          <p:nvSpPr>
            <p:cNvPr id="75" name="object 75"/>
            <p:cNvSpPr/>
            <p:nvPr/>
          </p:nvSpPr>
          <p:spPr>
            <a:xfrm>
              <a:off x="9171516" y="4199466"/>
              <a:ext cx="0" cy="817244"/>
            </a:xfrm>
            <a:custGeom>
              <a:avLst/>
              <a:gdLst/>
              <a:ahLst/>
              <a:cxnLst/>
              <a:rect l="l" t="t" r="r" b="b"/>
              <a:pathLst>
                <a:path h="817245">
                  <a:moveTo>
                    <a:pt x="0" y="817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196916" y="4237566"/>
              <a:ext cx="0" cy="753745"/>
            </a:xfrm>
            <a:custGeom>
              <a:avLst/>
              <a:gdLst/>
              <a:ahLst/>
              <a:cxnLst/>
              <a:rect l="l" t="t" r="r" b="b"/>
              <a:pathLst>
                <a:path h="753745">
                  <a:moveTo>
                    <a:pt x="0" y="753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235016" y="4288366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4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/>
          <p:nvPr/>
        </p:nvSpPr>
        <p:spPr>
          <a:xfrm>
            <a:off x="6400800" y="1788583"/>
            <a:ext cx="4728845" cy="0"/>
          </a:xfrm>
          <a:custGeom>
            <a:avLst/>
            <a:gdLst/>
            <a:ahLst/>
            <a:cxnLst/>
            <a:rect l="l" t="t" r="r" b="b"/>
            <a:pathLst>
              <a:path w="4728845">
                <a:moveTo>
                  <a:pt x="0" y="0"/>
                </a:moveTo>
                <a:lnTo>
                  <a:pt x="4728633" y="0"/>
                </a:lnTo>
              </a:path>
            </a:pathLst>
          </a:custGeom>
          <a:ln w="4233">
            <a:solidFill>
              <a:srgbClr val="2F4B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3172016" y="4085166"/>
            <a:ext cx="0" cy="1249045"/>
          </a:xfrm>
          <a:custGeom>
            <a:avLst/>
            <a:gdLst/>
            <a:ahLst/>
            <a:cxnLst/>
            <a:rect l="l" t="t" r="r" b="b"/>
            <a:pathLst>
              <a:path h="1249045">
                <a:moveTo>
                  <a:pt x="0" y="1248833"/>
                </a:moveTo>
                <a:lnTo>
                  <a:pt x="0" y="0"/>
                </a:lnTo>
              </a:path>
            </a:pathLst>
          </a:custGeom>
          <a:ln w="29633">
            <a:solidFill>
              <a:srgbClr val="346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1" name="object 81"/>
          <p:cNvGrpSpPr/>
          <p:nvPr/>
        </p:nvGrpSpPr>
        <p:grpSpPr>
          <a:xfrm>
            <a:off x="13157200" y="4085166"/>
            <a:ext cx="1706245" cy="1249045"/>
            <a:chOff x="13157200" y="4085166"/>
            <a:chExt cx="1706245" cy="1249045"/>
          </a:xfrm>
        </p:grpSpPr>
        <p:sp>
          <p:nvSpPr>
            <p:cNvPr id="82" name="object 82"/>
            <p:cNvSpPr/>
            <p:nvPr/>
          </p:nvSpPr>
          <p:spPr>
            <a:xfrm>
              <a:off x="14848416" y="4085166"/>
              <a:ext cx="0" cy="1249045"/>
            </a:xfrm>
            <a:custGeom>
              <a:avLst/>
              <a:gdLst/>
              <a:ahLst/>
              <a:cxnLst/>
              <a:rect l="l" t="t" r="r" b="b"/>
              <a:pathLst>
                <a:path h="1249045">
                  <a:moveTo>
                    <a:pt x="0" y="12488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3157200" y="4099983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>
                  <a:moveTo>
                    <a:pt x="0" y="0"/>
                  </a:moveTo>
                  <a:lnTo>
                    <a:pt x="1706033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3157200" y="5319183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>
                  <a:moveTo>
                    <a:pt x="0" y="0"/>
                  </a:moveTo>
                  <a:lnTo>
                    <a:pt x="1706033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3157200" y="5171016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>
                  <a:moveTo>
                    <a:pt x="0" y="0"/>
                  </a:moveTo>
                  <a:lnTo>
                    <a:pt x="1706033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3157200" y="4332816"/>
              <a:ext cx="1706245" cy="0"/>
            </a:xfrm>
            <a:custGeom>
              <a:avLst/>
              <a:gdLst/>
              <a:ahLst/>
              <a:cxnLst/>
              <a:rect l="l" t="t" r="r" b="b"/>
              <a:pathLst>
                <a:path w="1706244">
                  <a:moveTo>
                    <a:pt x="0" y="0"/>
                  </a:moveTo>
                  <a:lnTo>
                    <a:pt x="1706033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3464116" y="4085166"/>
              <a:ext cx="0" cy="262890"/>
            </a:xfrm>
            <a:custGeom>
              <a:avLst/>
              <a:gdLst/>
              <a:ahLst/>
              <a:cxnLst/>
              <a:rect l="l" t="t" r="r" b="b"/>
              <a:pathLst>
                <a:path h="262889">
                  <a:moveTo>
                    <a:pt x="0" y="262466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346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/>
          <p:nvPr/>
        </p:nvSpPr>
        <p:spPr>
          <a:xfrm>
            <a:off x="11609916" y="1849967"/>
            <a:ext cx="0" cy="7129145"/>
          </a:xfrm>
          <a:custGeom>
            <a:avLst/>
            <a:gdLst/>
            <a:ahLst/>
            <a:cxnLst/>
            <a:rect l="l" t="t" r="r" b="b"/>
            <a:pathLst>
              <a:path h="7129145">
                <a:moveTo>
                  <a:pt x="0" y="7128933"/>
                </a:moveTo>
                <a:lnTo>
                  <a:pt x="0" y="0"/>
                </a:lnTo>
              </a:path>
            </a:pathLst>
          </a:custGeom>
          <a:ln w="4233">
            <a:solidFill>
              <a:srgbClr val="344F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9" name="object 89"/>
          <p:cNvGrpSpPr/>
          <p:nvPr/>
        </p:nvGrpSpPr>
        <p:grpSpPr>
          <a:xfrm>
            <a:off x="16446500" y="1811867"/>
            <a:ext cx="55244" cy="7167245"/>
            <a:chOff x="16446500" y="1811867"/>
            <a:chExt cx="55244" cy="7167245"/>
          </a:xfrm>
        </p:grpSpPr>
        <p:sp>
          <p:nvSpPr>
            <p:cNvPr id="90" name="object 90"/>
            <p:cNvSpPr/>
            <p:nvPr/>
          </p:nvSpPr>
          <p:spPr>
            <a:xfrm>
              <a:off x="16448616" y="1811867"/>
              <a:ext cx="0" cy="7167245"/>
            </a:xfrm>
            <a:custGeom>
              <a:avLst/>
              <a:gdLst/>
              <a:ahLst/>
              <a:cxnLst/>
              <a:rect l="l" t="t" r="r" b="b"/>
              <a:pathLst>
                <a:path h="7167245">
                  <a:moveTo>
                    <a:pt x="0" y="7167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4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6486716" y="1875367"/>
              <a:ext cx="0" cy="7065645"/>
            </a:xfrm>
            <a:custGeom>
              <a:avLst/>
              <a:gdLst/>
              <a:ahLst/>
              <a:cxnLst/>
              <a:rect l="l" t="t" r="r" b="b"/>
              <a:pathLst>
                <a:path h="7065645">
                  <a:moveTo>
                    <a:pt x="0" y="706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4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6499416" y="1938867"/>
              <a:ext cx="0" cy="6925945"/>
            </a:xfrm>
            <a:custGeom>
              <a:avLst/>
              <a:gdLst/>
              <a:ahLst/>
              <a:cxnLst/>
              <a:rect l="l" t="t" r="r" b="b"/>
              <a:pathLst>
                <a:path h="6925945">
                  <a:moveTo>
                    <a:pt x="0" y="6925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344F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/>
          <p:nvPr/>
        </p:nvSpPr>
        <p:spPr>
          <a:xfrm>
            <a:off x="11696700" y="1788583"/>
            <a:ext cx="4728845" cy="0"/>
          </a:xfrm>
          <a:custGeom>
            <a:avLst/>
            <a:gdLst/>
            <a:ahLst/>
            <a:cxnLst/>
            <a:rect l="l" t="t" r="r" b="b"/>
            <a:pathLst>
              <a:path w="4728844">
                <a:moveTo>
                  <a:pt x="0" y="0"/>
                </a:moveTo>
                <a:lnTo>
                  <a:pt x="4728633" y="0"/>
                </a:lnTo>
              </a:path>
            </a:pathLst>
          </a:custGeom>
          <a:ln w="4233">
            <a:solidFill>
              <a:srgbClr val="344F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13258800" y="5293783"/>
            <a:ext cx="1579245" cy="0"/>
          </a:xfrm>
          <a:custGeom>
            <a:avLst/>
            <a:gdLst/>
            <a:ahLst/>
            <a:cxnLst/>
            <a:rect l="l" t="t" r="r" b="b"/>
            <a:pathLst>
              <a:path w="1579244">
                <a:moveTo>
                  <a:pt x="0" y="0"/>
                </a:moveTo>
                <a:lnTo>
                  <a:pt x="1579033" y="0"/>
                </a:lnTo>
              </a:path>
            </a:pathLst>
          </a:custGeom>
          <a:ln w="29633">
            <a:solidFill>
              <a:srgbClr val="2F4F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9" name="object 1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07800" y="1803400"/>
            <a:ext cx="127000" cy="228600"/>
          </a:xfrm>
          <a:prstGeom prst="rect">
            <a:avLst/>
          </a:prstGeom>
        </p:spPr>
      </p:pic>
      <p:sp>
        <p:nvSpPr>
          <p:cNvPr id="121" name="object 121"/>
          <p:cNvSpPr txBox="1"/>
          <p:nvPr/>
        </p:nvSpPr>
        <p:spPr>
          <a:xfrm>
            <a:off x="1002136" y="1623130"/>
            <a:ext cx="15430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i="1" spc="-50" dirty="0">
                <a:solidFill>
                  <a:srgbClr val="44626B"/>
                </a:solidFill>
                <a:latin typeface="Cambria"/>
                <a:cs typeface="Cambria"/>
              </a:rPr>
              <a:t>r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479977" y="3098447"/>
            <a:ext cx="190690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-204" dirty="0">
                <a:solidFill>
                  <a:srgbClr val="152F3B"/>
                </a:solidFill>
                <a:latin typeface="Cambria"/>
                <a:cs typeface="Cambria"/>
              </a:rPr>
              <a:t>Develop</a:t>
            </a:r>
            <a:endParaRPr sz="4650">
              <a:latin typeface="Cambria"/>
              <a:cs typeface="Cambri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1264174" y="5732991"/>
            <a:ext cx="4366895" cy="21202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 marR="5080" indent="-33655" algn="ctr">
              <a:lnSpc>
                <a:spcPct val="79600"/>
              </a:lnSpc>
              <a:spcBef>
                <a:spcPts val="770"/>
              </a:spcBef>
            </a:pPr>
            <a:r>
              <a:rPr lang="tr-TR" sz="2700" spc="-135" dirty="0" err="1">
                <a:latin typeface="Cambria"/>
                <a:cs typeface="Cambria"/>
              </a:rPr>
              <a:t>Develop</a:t>
            </a:r>
            <a:r>
              <a:rPr lang="tr-TR" sz="2700" spc="-45" dirty="0">
                <a:latin typeface="Cambria"/>
                <a:cs typeface="Cambria"/>
              </a:rPr>
              <a:t> </a:t>
            </a:r>
            <a:r>
              <a:rPr lang="tr-TR" sz="2700" spc="-245" dirty="0" err="1">
                <a:latin typeface="Cambria"/>
                <a:cs typeface="Cambria"/>
              </a:rPr>
              <a:t>high</a:t>
            </a:r>
            <a:r>
              <a:rPr lang="tr-TR" sz="2700" spc="-245" dirty="0">
                <a:latin typeface="Cambria"/>
                <a:cs typeface="Cambria"/>
              </a:rPr>
              <a:t>—</a:t>
            </a:r>
            <a:r>
              <a:rPr lang="tr-TR" sz="2700" spc="-70" dirty="0" err="1">
                <a:latin typeface="Cambria"/>
                <a:cs typeface="Cambria"/>
              </a:rPr>
              <a:t>accuracy</a:t>
            </a:r>
            <a:r>
              <a:rPr lang="tr-TR" sz="2700" spc="-70" dirty="0">
                <a:latin typeface="Cambria"/>
                <a:cs typeface="Cambria"/>
              </a:rPr>
              <a:t> </a:t>
            </a:r>
            <a:r>
              <a:rPr lang="tr-TR" sz="2750" spc="-100" dirty="0" err="1">
                <a:latin typeface="Cambria"/>
                <a:cs typeface="Cambria"/>
              </a:rPr>
              <a:t>classification</a:t>
            </a:r>
            <a:r>
              <a:rPr lang="tr-TR" sz="2750" spc="-85" dirty="0">
                <a:latin typeface="Cambria"/>
                <a:cs typeface="Cambria"/>
              </a:rPr>
              <a:t> </a:t>
            </a:r>
            <a:r>
              <a:rPr lang="tr-TR" sz="2750" spc="-170" dirty="0" err="1">
                <a:latin typeface="Cambria"/>
                <a:cs typeface="Cambria"/>
              </a:rPr>
              <a:t>models</a:t>
            </a:r>
            <a:r>
              <a:rPr lang="tr-TR" sz="2750" spc="-25" dirty="0">
                <a:latin typeface="Cambria"/>
                <a:cs typeface="Cambria"/>
              </a:rPr>
              <a:t> </a:t>
            </a:r>
            <a:r>
              <a:rPr lang="tr-TR" sz="2750" spc="-10" dirty="0">
                <a:latin typeface="Cambria"/>
                <a:cs typeface="Cambria"/>
              </a:rPr>
              <a:t>(</a:t>
            </a:r>
            <a:r>
              <a:rPr lang="tr-TR" sz="2750" spc="-10" dirty="0" err="1">
                <a:latin typeface="Cambria"/>
                <a:cs typeface="Cambria"/>
              </a:rPr>
              <a:t>Random</a:t>
            </a:r>
            <a:r>
              <a:rPr lang="tr-TR" sz="2750" spc="-10" dirty="0">
                <a:latin typeface="Cambria"/>
                <a:cs typeface="Cambria"/>
              </a:rPr>
              <a:t> </a:t>
            </a:r>
            <a:r>
              <a:rPr lang="tr-TR" sz="2850" spc="-90" dirty="0" err="1">
                <a:latin typeface="Times New Roman"/>
                <a:cs typeface="Times New Roman"/>
              </a:rPr>
              <a:t>Forest</a:t>
            </a:r>
            <a:r>
              <a:rPr lang="tr-TR" sz="2850" spc="-90" dirty="0">
                <a:latin typeface="Times New Roman"/>
                <a:cs typeface="Times New Roman"/>
              </a:rPr>
              <a:t>,</a:t>
            </a:r>
            <a:r>
              <a:rPr lang="tr-TR" sz="2850" spc="-45" dirty="0">
                <a:latin typeface="Times New Roman"/>
                <a:cs typeface="Times New Roman"/>
              </a:rPr>
              <a:t> </a:t>
            </a:r>
            <a:r>
              <a:rPr lang="tr-TR" sz="2850" spc="-130" dirty="0" err="1">
                <a:latin typeface="Times New Roman"/>
                <a:cs typeface="Times New Roman"/>
              </a:rPr>
              <a:t>Gradlent</a:t>
            </a:r>
            <a:r>
              <a:rPr lang="tr-TR" sz="2850" spc="55" dirty="0">
                <a:latin typeface="Times New Roman"/>
                <a:cs typeface="Times New Roman"/>
              </a:rPr>
              <a:t> </a:t>
            </a:r>
            <a:r>
              <a:rPr lang="tr-TR" sz="2850" spc="-130" dirty="0" err="1">
                <a:latin typeface="Times New Roman"/>
                <a:cs typeface="Times New Roman"/>
              </a:rPr>
              <a:t>Boosting</a:t>
            </a:r>
            <a:r>
              <a:rPr lang="tr-TR" sz="2850" spc="-130" dirty="0">
                <a:latin typeface="Times New Roman"/>
                <a:cs typeface="Times New Roman"/>
              </a:rPr>
              <a:t>,</a:t>
            </a:r>
            <a:r>
              <a:rPr lang="tr-TR" sz="2850" spc="-75" dirty="0">
                <a:latin typeface="Times New Roman"/>
                <a:cs typeface="Times New Roman"/>
              </a:rPr>
              <a:t> </a:t>
            </a:r>
            <a:r>
              <a:rPr lang="tr-TR" sz="2850" spc="-365" dirty="0">
                <a:latin typeface="Times New Roman"/>
                <a:cs typeface="Times New Roman"/>
              </a:rPr>
              <a:t>GNN) </a:t>
            </a:r>
            <a:r>
              <a:rPr lang="tr-TR" sz="2750" spc="-135" dirty="0" err="1">
                <a:latin typeface="Cambria"/>
                <a:cs typeface="Cambria"/>
              </a:rPr>
              <a:t>using</a:t>
            </a:r>
            <a:r>
              <a:rPr lang="tr-TR" sz="2750" dirty="0">
                <a:latin typeface="Cambria"/>
                <a:cs typeface="Cambria"/>
              </a:rPr>
              <a:t> </a:t>
            </a:r>
            <a:r>
              <a:rPr lang="tr-TR" sz="2750" spc="-140" dirty="0">
                <a:latin typeface="Cambria"/>
                <a:cs typeface="Cambria"/>
              </a:rPr>
              <a:t>data</a:t>
            </a:r>
            <a:r>
              <a:rPr lang="tr-TR" sz="2750" spc="-65" dirty="0">
                <a:latin typeface="Cambria"/>
                <a:cs typeface="Cambria"/>
              </a:rPr>
              <a:t> </a:t>
            </a:r>
            <a:r>
              <a:rPr lang="tr-TR" sz="2750" spc="-155" dirty="0" err="1">
                <a:latin typeface="Cambria"/>
                <a:cs typeface="Cambria"/>
              </a:rPr>
              <a:t>from</a:t>
            </a:r>
            <a:r>
              <a:rPr lang="tr-TR" sz="2750" spc="-140" dirty="0">
                <a:latin typeface="Cambria"/>
                <a:cs typeface="Cambria"/>
              </a:rPr>
              <a:t> </a:t>
            </a:r>
            <a:r>
              <a:rPr lang="tr-TR" sz="2750" spc="-10" dirty="0" err="1">
                <a:latin typeface="Cambria"/>
                <a:cs typeface="Cambria"/>
              </a:rPr>
              <a:t>ChEMBL</a:t>
            </a:r>
            <a:r>
              <a:rPr lang="tr-TR" sz="2750" spc="-10" dirty="0">
                <a:latin typeface="Cambria"/>
                <a:cs typeface="Cambria"/>
              </a:rPr>
              <a:t>, </a:t>
            </a:r>
            <a:r>
              <a:rPr lang="tr-TR" sz="2600" spc="-40" dirty="0" err="1">
                <a:latin typeface="Cambria"/>
                <a:cs typeface="Cambria"/>
              </a:rPr>
              <a:t>PubChem</a:t>
            </a:r>
            <a:r>
              <a:rPr lang="tr-TR" sz="2600" spc="-40" dirty="0">
                <a:latin typeface="Cambria"/>
                <a:cs typeface="Cambria"/>
              </a:rPr>
              <a:t>,</a:t>
            </a:r>
            <a:r>
              <a:rPr lang="tr-TR" sz="2600" spc="-60" dirty="0">
                <a:latin typeface="Cambria"/>
                <a:cs typeface="Cambria"/>
              </a:rPr>
              <a:t> </a:t>
            </a:r>
            <a:r>
              <a:rPr lang="tr-TR" sz="2600" spc="-65" dirty="0" err="1">
                <a:latin typeface="Cambria"/>
                <a:cs typeface="Cambria"/>
              </a:rPr>
              <a:t>and</a:t>
            </a:r>
            <a:r>
              <a:rPr lang="tr-TR" sz="2600" spc="-140" dirty="0">
                <a:latin typeface="Cambria"/>
                <a:cs typeface="Cambria"/>
              </a:rPr>
              <a:t> </a:t>
            </a:r>
            <a:r>
              <a:rPr lang="tr-TR" sz="2600" spc="-10" dirty="0" err="1">
                <a:latin typeface="Cambria"/>
                <a:cs typeface="Cambria"/>
              </a:rPr>
              <a:t>BindingDB</a:t>
            </a:r>
            <a:r>
              <a:rPr lang="tr-TR" sz="2600" spc="-10" dirty="0">
                <a:latin typeface="Cambria"/>
                <a:cs typeface="Cambria"/>
              </a:rPr>
              <a:t> </a:t>
            </a:r>
            <a:r>
              <a:rPr lang="tr-TR" sz="2900" spc="-105" dirty="0">
                <a:latin typeface="Cambria"/>
                <a:cs typeface="Cambria"/>
              </a:rPr>
              <a:t>(&gt;1o,ooo,ooo</a:t>
            </a:r>
            <a:r>
              <a:rPr lang="tr-TR" sz="2900" spc="-40" dirty="0">
                <a:latin typeface="Cambria"/>
                <a:cs typeface="Cambria"/>
              </a:rPr>
              <a:t> </a:t>
            </a:r>
            <a:r>
              <a:rPr lang="tr-TR" sz="2900" spc="-120" dirty="0" err="1">
                <a:latin typeface="Cambria"/>
                <a:cs typeface="Cambria"/>
              </a:rPr>
              <a:t>molecules</a:t>
            </a:r>
            <a:r>
              <a:rPr lang="tr-TR" sz="2900" spc="-120" dirty="0">
                <a:latin typeface="Cambria"/>
                <a:cs typeface="Cambria"/>
              </a:rPr>
              <a:t>).</a:t>
            </a:r>
            <a:endParaRPr lang="tr-TR" sz="2900" dirty="0">
              <a:latin typeface="Cambria"/>
              <a:cs typeface="Cambria"/>
            </a:endParaRPr>
          </a:p>
        </p:txBody>
      </p:sp>
      <p:sp>
        <p:nvSpPr>
          <p:cNvPr id="124" name="object 124"/>
          <p:cNvSpPr txBox="1">
            <a:spLocks noGrp="1"/>
          </p:cNvSpPr>
          <p:nvPr>
            <p:ph type="title"/>
          </p:nvPr>
        </p:nvSpPr>
        <p:spPr>
          <a:xfrm>
            <a:off x="5576058" y="386997"/>
            <a:ext cx="6243955" cy="9251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spc="-275" dirty="0">
                <a:solidFill>
                  <a:srgbClr val="183849"/>
                </a:solidFill>
                <a:latin typeface="Arial MT"/>
                <a:cs typeface="Arial MT"/>
              </a:rPr>
              <a:t>Concrete</a:t>
            </a:r>
            <a:r>
              <a:rPr sz="5900" spc="-55" dirty="0">
                <a:solidFill>
                  <a:srgbClr val="183849"/>
                </a:solidFill>
                <a:latin typeface="Arial MT"/>
                <a:cs typeface="Arial MT"/>
              </a:rPr>
              <a:t> </a:t>
            </a:r>
            <a:r>
              <a:rPr sz="5900" spc="-195" dirty="0">
                <a:solidFill>
                  <a:srgbClr val="1F3D4F"/>
                </a:solidFill>
                <a:latin typeface="Arial MT"/>
                <a:cs typeface="Arial MT"/>
              </a:rPr>
              <a:t>Objectives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300284" y="1650647"/>
            <a:ext cx="14160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i="1" spc="-50" dirty="0">
                <a:solidFill>
                  <a:srgbClr val="34565D"/>
                </a:solidFill>
                <a:latin typeface="Cambria"/>
                <a:cs typeface="Cambria"/>
              </a:rPr>
              <a:t>r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7810933" y="3089627"/>
            <a:ext cx="182054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-70" dirty="0">
                <a:solidFill>
                  <a:srgbClr val="132F3D"/>
                </a:solidFill>
                <a:latin typeface="Calibri"/>
                <a:cs typeface="Calibri"/>
              </a:rPr>
              <a:t>Identify</a:t>
            </a:r>
            <a:endParaRPr sz="47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6691300" y="5724172"/>
            <a:ext cx="4078604" cy="17856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5080" indent="-26670" algn="ctr">
              <a:lnSpc>
                <a:spcPct val="80300"/>
              </a:lnSpc>
              <a:spcBef>
                <a:spcPts val="775"/>
              </a:spcBef>
            </a:pPr>
            <a:r>
              <a:rPr sz="2750" spc="-160" dirty="0">
                <a:latin typeface="Cambria"/>
                <a:cs typeface="Cambria"/>
              </a:rPr>
              <a:t>Screen</a:t>
            </a:r>
            <a:r>
              <a:rPr sz="2750" spc="65" dirty="0">
                <a:latin typeface="Cambria"/>
                <a:cs typeface="Cambria"/>
              </a:rPr>
              <a:t> </a:t>
            </a:r>
            <a:r>
              <a:rPr sz="2750" spc="-150" dirty="0">
                <a:latin typeface="Cambria"/>
                <a:cs typeface="Cambria"/>
              </a:rPr>
              <a:t>the</a:t>
            </a:r>
            <a:r>
              <a:rPr sz="2750" spc="-165" dirty="0">
                <a:latin typeface="Cambria"/>
                <a:cs typeface="Cambria"/>
              </a:rPr>
              <a:t> </a:t>
            </a:r>
            <a:r>
              <a:rPr sz="2750" spc="-175" dirty="0">
                <a:latin typeface="Cambria"/>
                <a:cs typeface="Cambria"/>
              </a:rPr>
              <a:t>PubChem</a:t>
            </a:r>
            <a:r>
              <a:rPr sz="2750" spc="-20" dirty="0">
                <a:latin typeface="Cambria"/>
                <a:cs typeface="Cambria"/>
              </a:rPr>
              <a:t> </a:t>
            </a:r>
            <a:r>
              <a:rPr sz="2750" spc="-90" dirty="0">
                <a:latin typeface="Cambria"/>
                <a:cs typeface="Cambria"/>
              </a:rPr>
              <a:t>BioAssay </a:t>
            </a:r>
            <a:r>
              <a:rPr sz="2750" spc="-145" dirty="0">
                <a:latin typeface="Cambria"/>
                <a:cs typeface="Cambria"/>
              </a:rPr>
              <a:t>database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-155" dirty="0">
                <a:latin typeface="Cambria"/>
                <a:cs typeface="Cambria"/>
              </a:rPr>
              <a:t>to</a:t>
            </a:r>
            <a:r>
              <a:rPr sz="2750" spc="-195" dirty="0">
                <a:latin typeface="Cambria"/>
                <a:cs typeface="Cambria"/>
              </a:rPr>
              <a:t> </a:t>
            </a:r>
            <a:r>
              <a:rPr sz="2750" spc="-80" dirty="0">
                <a:latin typeface="Cambria"/>
                <a:cs typeface="Cambria"/>
              </a:rPr>
              <a:t>find</a:t>
            </a:r>
            <a:r>
              <a:rPr sz="2750" spc="-204" dirty="0">
                <a:latin typeface="Cambria"/>
                <a:cs typeface="Cambria"/>
              </a:rPr>
              <a:t> </a:t>
            </a:r>
            <a:r>
              <a:rPr sz="2750" spc="-75" dirty="0">
                <a:latin typeface="Cambria"/>
                <a:cs typeface="Cambria"/>
              </a:rPr>
              <a:t>hit</a:t>
            </a:r>
            <a:r>
              <a:rPr sz="2750" spc="-150" dirty="0">
                <a:latin typeface="Cambria"/>
                <a:cs typeface="Cambria"/>
              </a:rPr>
              <a:t> </a:t>
            </a:r>
            <a:r>
              <a:rPr sz="2750" spc="-80" dirty="0">
                <a:latin typeface="Cambria"/>
                <a:cs typeface="Cambria"/>
              </a:rPr>
              <a:t>molecules </a:t>
            </a:r>
            <a:r>
              <a:rPr sz="2700" spc="-114" dirty="0">
                <a:latin typeface="Cambria"/>
                <a:cs typeface="Cambria"/>
              </a:rPr>
              <a:t>with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-195" dirty="0">
                <a:latin typeface="Cambria"/>
                <a:cs typeface="Cambria"/>
              </a:rPr>
              <a:t>low</a:t>
            </a:r>
            <a:r>
              <a:rPr sz="2700" spc="25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toxicity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that</a:t>
            </a:r>
            <a:r>
              <a:rPr sz="2700" spc="-20" dirty="0">
                <a:latin typeface="Cambria"/>
                <a:cs typeface="Cambria"/>
              </a:rPr>
              <a:t> </a:t>
            </a:r>
            <a:r>
              <a:rPr sz="2700" spc="-100" dirty="0">
                <a:latin typeface="Cambria"/>
                <a:cs typeface="Cambria"/>
              </a:rPr>
              <a:t>can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be </a:t>
            </a:r>
            <a:r>
              <a:rPr sz="2750" spc="-204" dirty="0">
                <a:latin typeface="Cambria"/>
                <a:cs typeface="Cambria"/>
              </a:rPr>
              <a:t>repurposed</a:t>
            </a:r>
            <a:r>
              <a:rPr sz="2750" spc="55" dirty="0">
                <a:latin typeface="Cambria"/>
                <a:cs typeface="Cambria"/>
              </a:rPr>
              <a:t> </a:t>
            </a:r>
            <a:r>
              <a:rPr sz="2750" spc="-95" dirty="0">
                <a:latin typeface="Cambria"/>
                <a:cs typeface="Cambria"/>
              </a:rPr>
              <a:t>for</a:t>
            </a:r>
            <a:r>
              <a:rPr sz="2750" spc="-245" dirty="0">
                <a:latin typeface="Cambria"/>
                <a:cs typeface="Cambria"/>
              </a:rPr>
              <a:t> </a:t>
            </a:r>
            <a:r>
              <a:rPr sz="2750" spc="-90" dirty="0">
                <a:latin typeface="Cambria"/>
                <a:cs typeface="Cambria"/>
              </a:rPr>
              <a:t>MYC-</a:t>
            </a:r>
            <a:r>
              <a:rPr sz="2750" spc="-10" dirty="0">
                <a:latin typeface="Cambria"/>
                <a:cs typeface="Cambria"/>
              </a:rPr>
              <a:t>MAX</a:t>
            </a:r>
            <a:r>
              <a:rPr sz="2750" spc="-40" dirty="0">
                <a:latin typeface="Cambria"/>
                <a:cs typeface="Cambria"/>
              </a:rPr>
              <a:t> </a:t>
            </a:r>
            <a:r>
              <a:rPr sz="2750" spc="-95" dirty="0">
                <a:latin typeface="Cambria"/>
                <a:cs typeface="Cambria"/>
              </a:rPr>
              <a:t>and</a:t>
            </a:r>
            <a:endParaRPr sz="2750">
              <a:latin typeface="Cambria"/>
              <a:cs typeface="Cambria"/>
            </a:endParaRPr>
          </a:p>
          <a:p>
            <a:pPr marR="16510" algn="ctr">
              <a:lnSpc>
                <a:spcPts val="2620"/>
              </a:lnSpc>
            </a:pPr>
            <a:r>
              <a:rPr sz="2600" spc="55" dirty="0">
                <a:latin typeface="Cambria"/>
                <a:cs typeface="Cambria"/>
              </a:rPr>
              <a:t>§-</a:t>
            </a:r>
            <a:r>
              <a:rPr sz="2600" spc="60" dirty="0">
                <a:latin typeface="Cambria"/>
                <a:cs typeface="Cambria"/>
              </a:rPr>
              <a:t>catenin-</a:t>
            </a:r>
            <a:r>
              <a:rPr sz="2600" spc="70" dirty="0">
                <a:latin typeface="Cambria"/>
                <a:cs typeface="Cambria"/>
              </a:rPr>
              <a:t>TCFJ</a:t>
            </a:r>
            <a:r>
              <a:rPr sz="2600" spc="-19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interactions.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13053161" y="3133725"/>
            <a:ext cx="1932305" cy="692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350" spc="-90" dirty="0">
                <a:solidFill>
                  <a:srgbClr val="182F3D"/>
                </a:solidFill>
                <a:latin typeface="Arial MT"/>
                <a:cs typeface="Arial MT"/>
              </a:rPr>
              <a:t>Validate</a:t>
            </a:r>
            <a:endParaRPr sz="4350">
              <a:latin typeface="Arial MT"/>
              <a:cs typeface="Arial MT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11891630" y="5724172"/>
            <a:ext cx="4281170" cy="21234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065" marR="5080" indent="-6350" algn="ctr">
              <a:lnSpc>
                <a:spcPct val="79500"/>
              </a:lnSpc>
              <a:spcBef>
                <a:spcPts val="805"/>
              </a:spcBef>
            </a:pPr>
            <a:r>
              <a:rPr sz="2750" spc="-130" dirty="0">
                <a:latin typeface="Cambria"/>
                <a:cs typeface="Cambria"/>
              </a:rPr>
              <a:t>Computationally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validate </a:t>
            </a:r>
            <a:r>
              <a:rPr sz="2750" spc="-135" dirty="0">
                <a:latin typeface="Cambria"/>
                <a:cs typeface="Cambria"/>
              </a:rPr>
              <a:t>binding</a:t>
            </a:r>
            <a:r>
              <a:rPr sz="2750" spc="-15" dirty="0">
                <a:latin typeface="Cambria"/>
                <a:cs typeface="Cambria"/>
              </a:rPr>
              <a:t> </a:t>
            </a:r>
            <a:r>
              <a:rPr sz="2750" spc="-90" dirty="0">
                <a:latin typeface="Cambria"/>
                <a:cs typeface="Cambria"/>
              </a:rPr>
              <a:t>affinities</a:t>
            </a:r>
            <a:r>
              <a:rPr sz="2750" spc="-55" dirty="0">
                <a:latin typeface="Cambria"/>
                <a:cs typeface="Cambria"/>
              </a:rPr>
              <a:t> </a:t>
            </a:r>
            <a:r>
              <a:rPr sz="2750" spc="-90" dirty="0">
                <a:latin typeface="Cambria"/>
                <a:cs typeface="Cambria"/>
              </a:rPr>
              <a:t>of</a:t>
            </a:r>
            <a:r>
              <a:rPr sz="2750" spc="5" dirty="0">
                <a:latin typeface="Cambria"/>
                <a:cs typeface="Cambria"/>
              </a:rPr>
              <a:t> </a:t>
            </a:r>
            <a:r>
              <a:rPr sz="2750" spc="-150" dirty="0">
                <a:latin typeface="Cambria"/>
                <a:cs typeface="Cambria"/>
              </a:rPr>
              <a:t>the</a:t>
            </a:r>
            <a:r>
              <a:rPr sz="2750" spc="-70" dirty="0">
                <a:latin typeface="Cambria"/>
                <a:cs typeface="Cambria"/>
              </a:rPr>
              <a:t> </a:t>
            </a:r>
            <a:r>
              <a:rPr sz="2750" spc="-114" dirty="0">
                <a:latin typeface="Cambria"/>
                <a:cs typeface="Cambria"/>
              </a:rPr>
              <a:t>top</a:t>
            </a:r>
            <a:r>
              <a:rPr sz="2750" spc="-145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hits </a:t>
            </a:r>
            <a:r>
              <a:rPr sz="4275" spc="-15" baseline="4873" dirty="0">
                <a:latin typeface="Cambria"/>
                <a:cs typeface="Cambria"/>
              </a:rPr>
              <a:t>(n</a:t>
            </a:r>
            <a:r>
              <a:rPr sz="4275" spc="-15" baseline="-2923" dirty="0">
                <a:latin typeface="Cambria"/>
                <a:cs typeface="Cambria"/>
              </a:rPr>
              <a:t>ssJ</a:t>
            </a:r>
            <a:r>
              <a:rPr sz="4275" spc="-284" baseline="-2923" dirty="0">
                <a:latin typeface="Cambria"/>
                <a:cs typeface="Cambria"/>
              </a:rPr>
              <a:t> </a:t>
            </a:r>
            <a:r>
              <a:rPr sz="2850" spc="-180" dirty="0">
                <a:latin typeface="Cambria"/>
                <a:cs typeface="Cambria"/>
              </a:rPr>
              <a:t>via</a:t>
            </a:r>
            <a:r>
              <a:rPr sz="2850" spc="-150" dirty="0">
                <a:latin typeface="Cambria"/>
                <a:cs typeface="Cambria"/>
              </a:rPr>
              <a:t> </a:t>
            </a:r>
            <a:r>
              <a:rPr sz="2850" spc="-200" dirty="0">
                <a:latin typeface="Cambria"/>
                <a:cs typeface="Cambria"/>
              </a:rPr>
              <a:t>Molecular</a:t>
            </a:r>
            <a:r>
              <a:rPr sz="2850" spc="50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docking </a:t>
            </a:r>
            <a:r>
              <a:rPr sz="2750" spc="-105" dirty="0">
                <a:latin typeface="Cambria"/>
                <a:cs typeface="Cambria"/>
              </a:rPr>
              <a:t>(AutoDockVina),</a:t>
            </a:r>
            <a:r>
              <a:rPr sz="2750" spc="-210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MD </a:t>
            </a:r>
            <a:r>
              <a:rPr sz="2700" spc="-90" dirty="0">
                <a:latin typeface="Cambria"/>
                <a:cs typeface="Cambria"/>
              </a:rPr>
              <a:t>simulations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(loo</a:t>
            </a:r>
            <a:r>
              <a:rPr sz="2700" spc="-155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ns),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and</a:t>
            </a:r>
            <a:endParaRPr sz="2700">
              <a:latin typeface="Cambria"/>
              <a:cs typeface="Cambria"/>
            </a:endParaRPr>
          </a:p>
          <a:p>
            <a:pPr marR="15875" algn="ctr">
              <a:lnSpc>
                <a:spcPts val="2650"/>
              </a:lnSpc>
            </a:pPr>
            <a:r>
              <a:rPr sz="2700" spc="-65" dirty="0">
                <a:latin typeface="Cambria"/>
                <a:cs typeface="Cambria"/>
              </a:rPr>
              <a:t>MM-</a:t>
            </a:r>
            <a:r>
              <a:rPr sz="2700" spc="-20" dirty="0">
                <a:latin typeface="Cambria"/>
                <a:cs typeface="Cambria"/>
              </a:rPr>
              <a:t>GBSA</a:t>
            </a:r>
            <a:r>
              <a:rPr sz="2700" spc="-9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calculations.</a:t>
            </a:r>
            <a:endParaRPr sz="2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3289300"/>
            <a:ext cx="16306800" cy="36449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1215"/>
              </a:spcBef>
            </a:pPr>
            <a:r>
              <a:rPr sz="5800" spc="-25" dirty="0">
                <a:solidFill>
                  <a:srgbClr val="0F2D3F"/>
                </a:solidFill>
                <a:latin typeface="Arial MT"/>
                <a:cs typeface="Arial MT"/>
              </a:rPr>
              <a:t>Methods:</a:t>
            </a:r>
            <a:r>
              <a:rPr sz="5800" spc="-225" dirty="0">
                <a:solidFill>
                  <a:srgbClr val="0F2D3F"/>
                </a:solidFill>
                <a:latin typeface="Arial MT"/>
                <a:cs typeface="Arial MT"/>
              </a:rPr>
              <a:t> </a:t>
            </a:r>
            <a:r>
              <a:rPr sz="5800" spc="-580" dirty="0">
                <a:solidFill>
                  <a:srgbClr val="1C3D52"/>
                </a:solidFill>
                <a:latin typeface="Arial MT"/>
                <a:cs typeface="Arial MT"/>
              </a:rPr>
              <a:t>Work</a:t>
            </a:r>
            <a:r>
              <a:rPr lang="tr-TR" sz="5800" spc="-580" dirty="0" err="1">
                <a:solidFill>
                  <a:srgbClr val="1C3D52"/>
                </a:solidFill>
                <a:latin typeface="Arial MT"/>
                <a:cs typeface="Arial MT"/>
              </a:rPr>
              <a:t>fl</a:t>
            </a:r>
            <a:r>
              <a:rPr sz="5800" spc="-580" dirty="0">
                <a:solidFill>
                  <a:srgbClr val="1C3D52"/>
                </a:solidFill>
                <a:latin typeface="Arial MT"/>
                <a:cs typeface="Arial MT"/>
              </a:rPr>
              <a:t>ow</a:t>
            </a:r>
            <a:r>
              <a:rPr sz="5800" spc="180" dirty="0">
                <a:solidFill>
                  <a:srgbClr val="1C3D52"/>
                </a:solidFill>
                <a:latin typeface="Arial MT"/>
                <a:cs typeface="Arial MT"/>
              </a:rPr>
              <a:t> </a:t>
            </a:r>
            <a:r>
              <a:rPr sz="5800" spc="-25" dirty="0">
                <a:solidFill>
                  <a:srgbClr val="183646"/>
                </a:solidFill>
                <a:latin typeface="Arial MT"/>
                <a:cs typeface="Arial MT"/>
              </a:rPr>
              <a:t>Overview</a:t>
            </a:r>
            <a:endParaRPr sz="5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3400" spc="-220" dirty="0">
                <a:solidFill>
                  <a:srgbClr val="000000"/>
                </a:solidFill>
                <a:latin typeface="Cambria"/>
                <a:cs typeface="Cambria"/>
              </a:rPr>
              <a:t>Based</a:t>
            </a:r>
            <a:r>
              <a:rPr sz="34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95" dirty="0">
                <a:solidFill>
                  <a:srgbClr val="000000"/>
                </a:solidFill>
                <a:latin typeface="Cambria"/>
                <a:cs typeface="Cambria"/>
              </a:rPr>
              <a:t>on</a:t>
            </a:r>
            <a:r>
              <a:rPr sz="3400" spc="-19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125" dirty="0">
                <a:solidFill>
                  <a:srgbClr val="000000"/>
                </a:solidFill>
                <a:latin typeface="Cambria"/>
                <a:cs typeface="Cambria"/>
              </a:rPr>
              <a:t>QSAR-</a:t>
            </a:r>
            <a:r>
              <a:rPr sz="3400" dirty="0">
                <a:solidFill>
                  <a:srgbClr val="000000"/>
                </a:solidFill>
                <a:latin typeface="Cambria"/>
                <a:cs typeface="Cambria"/>
              </a:rPr>
              <a:t>ML</a:t>
            </a:r>
            <a:r>
              <a:rPr sz="3400" spc="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220" dirty="0">
                <a:solidFill>
                  <a:srgbClr val="000000"/>
                </a:solidFill>
                <a:latin typeface="Cambria"/>
                <a:cs typeface="Cambria"/>
              </a:rPr>
              <a:t>workflows</a:t>
            </a:r>
            <a:r>
              <a:rPr sz="34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150" dirty="0">
                <a:solidFill>
                  <a:srgbClr val="000000"/>
                </a:solidFill>
                <a:latin typeface="Cambria"/>
                <a:cs typeface="Cambria"/>
              </a:rPr>
              <a:t>(Sharma</a:t>
            </a:r>
            <a:r>
              <a:rPr sz="3400" spc="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355" dirty="0">
                <a:solidFill>
                  <a:srgbClr val="000000"/>
                </a:solidFill>
                <a:latin typeface="Cambria"/>
                <a:cs typeface="Cambria"/>
              </a:rPr>
              <a:t>&amp;</a:t>
            </a:r>
            <a:r>
              <a:rPr sz="3400" spc="-1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195" dirty="0">
                <a:solidFill>
                  <a:srgbClr val="000000"/>
                </a:solidFill>
                <a:latin typeface="Cambria"/>
                <a:cs typeface="Cambria"/>
              </a:rPr>
              <a:t>Arumugam)</a:t>
            </a:r>
            <a:r>
              <a:rPr sz="3400" spc="7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245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3400" spc="-1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210" dirty="0">
                <a:solidFill>
                  <a:srgbClr val="000000"/>
                </a:solidFill>
                <a:latin typeface="Cambria"/>
                <a:cs typeface="Cambria"/>
              </a:rPr>
              <a:t>Bayesian</a:t>
            </a:r>
            <a:r>
              <a:rPr sz="3400" spc="-8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55" dirty="0">
                <a:solidFill>
                  <a:srgbClr val="000000"/>
                </a:solidFill>
                <a:latin typeface="Cambria"/>
                <a:cs typeface="Cambria"/>
              </a:rPr>
              <a:t>ML</a:t>
            </a:r>
            <a:r>
              <a:rPr sz="3400" spc="-2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140" dirty="0">
                <a:solidFill>
                  <a:srgbClr val="000000"/>
                </a:solidFill>
                <a:latin typeface="Cambria"/>
                <a:cs typeface="Cambria"/>
              </a:rPr>
              <a:t>(Vignaux</a:t>
            </a:r>
            <a:r>
              <a:rPr sz="34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170" dirty="0">
                <a:solidFill>
                  <a:srgbClr val="000000"/>
                </a:solidFill>
                <a:latin typeface="Cambria"/>
                <a:cs typeface="Cambria"/>
              </a:rPr>
              <a:t>et</a:t>
            </a:r>
            <a:r>
              <a:rPr sz="340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400" spc="-400" dirty="0">
                <a:solidFill>
                  <a:srgbClr val="000000"/>
                </a:solidFill>
                <a:latin typeface="Cambria"/>
                <a:cs typeface="Cambria"/>
              </a:rPr>
              <a:t>a1.)</a:t>
            </a:r>
            <a:endParaRPr sz="3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594" y="4598458"/>
            <a:ext cx="2915285" cy="1024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1760">
              <a:lnSpc>
                <a:spcPts val="3904"/>
              </a:lnSpc>
              <a:spcBef>
                <a:spcPts val="90"/>
              </a:spcBef>
            </a:pPr>
            <a:r>
              <a:rPr sz="3550" spc="-325" dirty="0">
                <a:latin typeface="Arial MT"/>
                <a:cs typeface="Arial MT"/>
              </a:rPr>
              <a:t>Data</a:t>
            </a:r>
            <a:r>
              <a:rPr sz="3550" spc="-65" dirty="0">
                <a:latin typeface="Arial MT"/>
                <a:cs typeface="Arial MT"/>
              </a:rPr>
              <a:t> </a:t>
            </a:r>
            <a:r>
              <a:rPr sz="3550" spc="-75" dirty="0">
                <a:latin typeface="Arial MT"/>
                <a:cs typeface="Arial MT"/>
              </a:rPr>
              <a:t>Collection</a:t>
            </a:r>
            <a:endParaRPr sz="3550">
              <a:latin typeface="Arial MT"/>
              <a:cs typeface="Arial MT"/>
            </a:endParaRPr>
          </a:p>
          <a:p>
            <a:pPr marL="12700">
              <a:lnSpc>
                <a:spcPts val="3965"/>
              </a:lnSpc>
            </a:pPr>
            <a:r>
              <a:rPr sz="3600" spc="-340" dirty="0">
                <a:latin typeface="Arial MT"/>
                <a:cs typeface="Arial MT"/>
              </a:rPr>
              <a:t>&amp;</a:t>
            </a:r>
            <a:r>
              <a:rPr sz="3600" spc="-395" dirty="0">
                <a:latin typeface="Arial MT"/>
                <a:cs typeface="Arial MT"/>
              </a:rPr>
              <a:t> </a:t>
            </a:r>
            <a:r>
              <a:rPr sz="3600" spc="-229" dirty="0">
                <a:latin typeface="Arial MT"/>
                <a:cs typeface="Arial MT"/>
              </a:rPr>
              <a:t>Preprocessing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2515" y="4598458"/>
            <a:ext cx="2319020" cy="1024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450" algn="ctr">
              <a:lnSpc>
                <a:spcPts val="3904"/>
              </a:lnSpc>
              <a:spcBef>
                <a:spcPts val="90"/>
              </a:spcBef>
            </a:pPr>
            <a:r>
              <a:rPr sz="3550" spc="-254" dirty="0">
                <a:latin typeface="Arial MT"/>
                <a:cs typeface="Arial MT"/>
              </a:rPr>
              <a:t>ML</a:t>
            </a:r>
            <a:r>
              <a:rPr sz="3550" spc="-355" dirty="0">
                <a:latin typeface="Arial MT"/>
                <a:cs typeface="Arial MT"/>
              </a:rPr>
              <a:t> </a:t>
            </a:r>
            <a:r>
              <a:rPr sz="3550" spc="-20" dirty="0">
                <a:latin typeface="Arial MT"/>
                <a:cs typeface="Arial MT"/>
              </a:rPr>
              <a:t>Model</a:t>
            </a:r>
            <a:endParaRPr sz="3550">
              <a:latin typeface="Arial MT"/>
              <a:cs typeface="Arial MT"/>
            </a:endParaRPr>
          </a:p>
          <a:p>
            <a:pPr algn="ctr">
              <a:lnSpc>
                <a:spcPts val="3965"/>
              </a:lnSpc>
            </a:pPr>
            <a:r>
              <a:rPr sz="3600" spc="-305" dirty="0">
                <a:latin typeface="Arial MT"/>
                <a:cs typeface="Arial MT"/>
              </a:rPr>
              <a:t>Development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1698" y="4598458"/>
            <a:ext cx="1800860" cy="1024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" algn="ctr">
              <a:lnSpc>
                <a:spcPts val="3904"/>
              </a:lnSpc>
              <a:spcBef>
                <a:spcPts val="90"/>
              </a:spcBef>
            </a:pPr>
            <a:r>
              <a:rPr sz="3550" spc="-10" dirty="0">
                <a:latin typeface="Arial MT"/>
                <a:cs typeface="Arial MT"/>
              </a:rPr>
              <a:t>Virtual</a:t>
            </a:r>
            <a:endParaRPr sz="3550">
              <a:latin typeface="Arial MT"/>
              <a:cs typeface="Arial MT"/>
            </a:endParaRPr>
          </a:p>
          <a:p>
            <a:pPr algn="ctr">
              <a:lnSpc>
                <a:spcPts val="3965"/>
              </a:lnSpc>
            </a:pPr>
            <a:r>
              <a:rPr sz="3600" spc="-270" dirty="0">
                <a:latin typeface="Arial MT"/>
                <a:cs typeface="Arial MT"/>
              </a:rPr>
              <a:t>Screening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6589" y="7034035"/>
            <a:ext cx="1818005" cy="1337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0335">
              <a:lnSpc>
                <a:spcPts val="3550"/>
              </a:lnSpc>
              <a:spcBef>
                <a:spcPts val="110"/>
              </a:spcBef>
            </a:pPr>
            <a:r>
              <a:rPr sz="3250" spc="-10" dirty="0">
                <a:latin typeface="Cambria"/>
                <a:cs typeface="Cambria"/>
              </a:rPr>
              <a:t>ChEMBL,</a:t>
            </a:r>
            <a:endParaRPr sz="3250">
              <a:latin typeface="Cambria"/>
              <a:cs typeface="Cambria"/>
            </a:endParaRPr>
          </a:p>
          <a:p>
            <a:pPr marL="63500">
              <a:lnSpc>
                <a:spcPts val="3175"/>
              </a:lnSpc>
            </a:pPr>
            <a:r>
              <a:rPr sz="3250" spc="-35" dirty="0">
                <a:latin typeface="Cambria"/>
                <a:cs typeface="Cambria"/>
              </a:rPr>
              <a:t>PubChem,</a:t>
            </a:r>
            <a:endParaRPr sz="3250">
              <a:latin typeface="Cambria"/>
              <a:cs typeface="Cambria"/>
            </a:endParaRPr>
          </a:p>
          <a:p>
            <a:pPr marL="12700">
              <a:lnSpc>
                <a:spcPts val="3585"/>
              </a:lnSpc>
            </a:pPr>
            <a:r>
              <a:rPr sz="3300" spc="-120" dirty="0">
                <a:latin typeface="Cambria"/>
                <a:cs typeface="Cambria"/>
              </a:rPr>
              <a:t>BindingDB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8910" y="7034035"/>
            <a:ext cx="2469515" cy="1337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540" algn="ctr">
              <a:lnSpc>
                <a:spcPts val="3550"/>
              </a:lnSpc>
              <a:spcBef>
                <a:spcPts val="110"/>
              </a:spcBef>
            </a:pPr>
            <a:endParaRPr sz="3250" dirty="0">
              <a:latin typeface="Cambria"/>
              <a:cs typeface="Cambria"/>
            </a:endParaRPr>
          </a:p>
          <a:p>
            <a:pPr algn="ctr">
              <a:lnSpc>
                <a:spcPts val="3175"/>
              </a:lnSpc>
            </a:pPr>
            <a:r>
              <a:rPr sz="3250" dirty="0">
                <a:latin typeface="Cambria"/>
                <a:cs typeface="Cambria"/>
              </a:rPr>
              <a:t>RF,</a:t>
            </a:r>
            <a:r>
              <a:rPr sz="3250" spc="-13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GBM,</a:t>
            </a:r>
            <a:r>
              <a:rPr sz="3250" spc="-95" dirty="0">
                <a:latin typeface="Cambria"/>
                <a:cs typeface="Cambria"/>
              </a:rPr>
              <a:t> </a:t>
            </a:r>
            <a:r>
              <a:rPr sz="3250" spc="-25" dirty="0">
                <a:latin typeface="Cambria"/>
                <a:cs typeface="Cambria"/>
              </a:rPr>
              <a:t>GNN</a:t>
            </a:r>
            <a:endParaRPr sz="3250" dirty="0">
              <a:latin typeface="Cambria"/>
              <a:cs typeface="Cambria"/>
            </a:endParaRPr>
          </a:p>
          <a:p>
            <a:pPr marR="8255" algn="ctr">
              <a:lnSpc>
                <a:spcPts val="3585"/>
              </a:lnSpc>
            </a:pPr>
            <a:r>
              <a:rPr sz="3300" spc="-10" dirty="0">
                <a:latin typeface="Cambria"/>
                <a:cs typeface="Cambria"/>
              </a:rPr>
              <a:t>Training</a:t>
            </a:r>
            <a:endParaRPr sz="33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1111" y="7034035"/>
            <a:ext cx="1623695" cy="13379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50800" marR="5080" indent="-38100" algn="just">
              <a:lnSpc>
                <a:spcPts val="3200"/>
              </a:lnSpc>
              <a:spcBef>
                <a:spcPts val="800"/>
              </a:spcBef>
            </a:pPr>
            <a:r>
              <a:rPr sz="3250" spc="-120" dirty="0">
                <a:latin typeface="Cambria"/>
                <a:cs typeface="Cambria"/>
              </a:rPr>
              <a:t>PubChem </a:t>
            </a:r>
            <a:r>
              <a:rPr sz="3250" spc="-60" dirty="0">
                <a:latin typeface="Cambria"/>
                <a:cs typeface="Cambria"/>
              </a:rPr>
              <a:t>BioAssay </a:t>
            </a:r>
            <a:r>
              <a:rPr sz="3300" spc="-10" dirty="0">
                <a:latin typeface="Cambria"/>
                <a:cs typeface="Cambria"/>
              </a:rPr>
              <a:t>Filtering</a:t>
            </a:r>
            <a:endParaRPr sz="3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2714" y="4642555"/>
            <a:ext cx="1900555" cy="97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620"/>
              </a:lnSpc>
              <a:spcBef>
                <a:spcPts val="95"/>
              </a:spcBef>
            </a:pPr>
            <a:r>
              <a:rPr sz="3200" spc="-10" dirty="0">
                <a:latin typeface="Cambria"/>
                <a:cs typeface="Cambria"/>
              </a:rPr>
              <a:t>Simulation</a:t>
            </a:r>
            <a:endParaRPr sz="3200">
              <a:latin typeface="Cambria"/>
              <a:cs typeface="Cambria"/>
            </a:endParaRPr>
          </a:p>
          <a:p>
            <a:pPr marL="40005" algn="ctr">
              <a:lnSpc>
                <a:spcPts val="3860"/>
              </a:lnSpc>
            </a:pPr>
            <a:r>
              <a:rPr sz="3400" spc="-20" dirty="0">
                <a:latin typeface="Cambria"/>
                <a:cs typeface="Cambria"/>
              </a:rPr>
              <a:t>(MD)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82610" y="4864805"/>
            <a:ext cx="1748789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35" dirty="0">
                <a:latin typeface="Arial MT"/>
                <a:cs typeface="Arial MT"/>
              </a:rPr>
              <a:t>Reporting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09723" y="7057257"/>
            <a:ext cx="2633546" cy="1070806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 marR="5080" indent="380365" algn="ctr">
              <a:lnSpc>
                <a:spcPct val="78400"/>
              </a:lnSpc>
              <a:spcBef>
                <a:spcPts val="985"/>
              </a:spcBef>
            </a:pPr>
            <a:r>
              <a:rPr lang="tr-TR" sz="3400" spc="-10" dirty="0">
                <a:latin typeface="Cambria"/>
                <a:cs typeface="Cambria"/>
              </a:rPr>
              <a:t>100ns</a:t>
            </a:r>
          </a:p>
          <a:p>
            <a:pPr marL="12700" marR="5080" indent="380365" algn="ctr">
              <a:lnSpc>
                <a:spcPct val="78400"/>
              </a:lnSpc>
              <a:spcBef>
                <a:spcPts val="985"/>
              </a:spcBef>
            </a:pPr>
            <a:r>
              <a:rPr lang="tr-TR" sz="3400" spc="-10" dirty="0" err="1">
                <a:latin typeface="Cambria"/>
                <a:cs typeface="Cambria"/>
              </a:rPr>
              <a:t>Validation</a:t>
            </a:r>
            <a:endParaRPr sz="3400" dirty="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19072" y="7016397"/>
            <a:ext cx="2021839" cy="950594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 marR="5080" indent="152400">
              <a:lnSpc>
                <a:spcPct val="78400"/>
              </a:lnSpc>
              <a:spcBef>
                <a:spcPts val="985"/>
              </a:spcBef>
            </a:pPr>
            <a:r>
              <a:rPr sz="3400" spc="-85" dirty="0">
                <a:latin typeface="Cambria"/>
                <a:cs typeface="Cambria"/>
              </a:rPr>
              <a:t>Candidate </a:t>
            </a:r>
            <a:r>
              <a:rPr sz="3400" spc="-130" dirty="0">
                <a:latin typeface="Cambria"/>
                <a:cs typeface="Cambria"/>
              </a:rPr>
              <a:t>List</a:t>
            </a:r>
            <a:r>
              <a:rPr sz="3400" spc="-25" dirty="0">
                <a:latin typeface="Cambria"/>
                <a:cs typeface="Cambria"/>
              </a:rPr>
              <a:t> </a:t>
            </a:r>
            <a:r>
              <a:rPr sz="3400" spc="-355" dirty="0">
                <a:latin typeface="Cambria"/>
                <a:cs typeface="Cambria"/>
              </a:rPr>
              <a:t>&amp;</a:t>
            </a:r>
            <a:r>
              <a:rPr sz="3400" spc="-195" dirty="0">
                <a:latin typeface="Cambria"/>
                <a:cs typeface="Cambria"/>
              </a:rPr>
              <a:t> </a:t>
            </a:r>
            <a:r>
              <a:rPr sz="3400" spc="-204" dirty="0">
                <a:latin typeface="Cambria"/>
                <a:cs typeface="Cambria"/>
              </a:rPr>
              <a:t>Paper</a:t>
            </a:r>
            <a:endParaRPr sz="3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2900" y="5435600"/>
            <a:ext cx="9880600" cy="2184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2900" y="2438400"/>
            <a:ext cx="1562100" cy="218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1900" y="7404100"/>
            <a:ext cx="8178800" cy="1739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7636" y="422274"/>
            <a:ext cx="11227435" cy="882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600" spc="-190" dirty="0">
                <a:solidFill>
                  <a:srgbClr val="183B4B"/>
                </a:solidFill>
                <a:latin typeface="Arial MT"/>
                <a:cs typeface="Arial MT"/>
              </a:rPr>
              <a:t>2.1</a:t>
            </a:r>
            <a:r>
              <a:rPr sz="5600" spc="-295" dirty="0">
                <a:solidFill>
                  <a:srgbClr val="183B4B"/>
                </a:solidFill>
                <a:latin typeface="Arial MT"/>
                <a:cs typeface="Arial MT"/>
              </a:rPr>
              <a:t> </a:t>
            </a:r>
            <a:r>
              <a:rPr sz="5600" spc="-300" dirty="0">
                <a:solidFill>
                  <a:srgbClr val="1C3849"/>
                </a:solidFill>
                <a:latin typeface="Arial MT"/>
                <a:cs typeface="Arial MT"/>
              </a:rPr>
              <a:t>Data</a:t>
            </a:r>
            <a:r>
              <a:rPr sz="5600" spc="-195" dirty="0">
                <a:solidFill>
                  <a:srgbClr val="1C3849"/>
                </a:solidFill>
                <a:latin typeface="Arial MT"/>
                <a:cs typeface="Arial MT"/>
              </a:rPr>
              <a:t> </a:t>
            </a:r>
            <a:r>
              <a:rPr sz="5600" spc="-130" dirty="0">
                <a:solidFill>
                  <a:srgbClr val="183444"/>
                </a:solidFill>
                <a:latin typeface="Arial MT"/>
                <a:cs typeface="Arial MT"/>
              </a:rPr>
              <a:t>Collection</a:t>
            </a:r>
            <a:r>
              <a:rPr sz="5600" spc="-190" dirty="0">
                <a:solidFill>
                  <a:srgbClr val="183444"/>
                </a:solidFill>
                <a:latin typeface="Arial MT"/>
                <a:cs typeface="Arial MT"/>
              </a:rPr>
              <a:t> </a:t>
            </a:r>
            <a:r>
              <a:rPr sz="5600" spc="-285" dirty="0">
                <a:solidFill>
                  <a:srgbClr val="1A3444"/>
                </a:solidFill>
                <a:latin typeface="Arial MT"/>
                <a:cs typeface="Arial MT"/>
              </a:rPr>
              <a:t>and</a:t>
            </a:r>
            <a:r>
              <a:rPr sz="5600" spc="-330" dirty="0">
                <a:solidFill>
                  <a:srgbClr val="1A3444"/>
                </a:solidFill>
                <a:latin typeface="Arial MT"/>
                <a:cs typeface="Arial MT"/>
              </a:rPr>
              <a:t> </a:t>
            </a:r>
            <a:r>
              <a:rPr sz="5600" spc="-185" dirty="0">
                <a:solidFill>
                  <a:srgbClr val="1D4154"/>
                </a:solidFill>
                <a:latin typeface="Arial MT"/>
                <a:cs typeface="Arial MT"/>
              </a:rPr>
              <a:t>Preprocessing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5944" y="2673702"/>
            <a:ext cx="4615815" cy="37414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00050" marR="400050" indent="-362585">
              <a:lnSpc>
                <a:spcPct val="87700"/>
              </a:lnSpc>
              <a:spcBef>
                <a:spcPts val="700"/>
              </a:spcBef>
              <a:buChar char="•"/>
              <a:tabLst>
                <a:tab pos="400050" algn="l"/>
                <a:tab pos="401320" algn="l"/>
              </a:tabLst>
            </a:pPr>
            <a:r>
              <a:rPr sz="4100" dirty="0">
                <a:latin typeface="Cambria"/>
                <a:cs typeface="Cambria"/>
              </a:rPr>
              <a:t>	</a:t>
            </a:r>
            <a:r>
              <a:rPr sz="4100" spc="-130" dirty="0">
                <a:latin typeface="Cambria"/>
                <a:cs typeface="Cambria"/>
              </a:rPr>
              <a:t>Sources:</a:t>
            </a:r>
            <a:r>
              <a:rPr sz="4100" spc="-60" dirty="0">
                <a:latin typeface="Cambria"/>
                <a:cs typeface="Cambria"/>
              </a:rPr>
              <a:t> </a:t>
            </a:r>
            <a:r>
              <a:rPr sz="4100" spc="-80" dirty="0">
                <a:latin typeface="Cambria"/>
                <a:cs typeface="Cambria"/>
              </a:rPr>
              <a:t>ChEMBL, </a:t>
            </a:r>
            <a:r>
              <a:rPr sz="4150" spc="-105" dirty="0">
                <a:latin typeface="Cambria"/>
                <a:cs typeface="Cambria"/>
              </a:rPr>
              <a:t>PubChem,</a:t>
            </a:r>
            <a:r>
              <a:rPr sz="4150" spc="-70" dirty="0">
                <a:latin typeface="Cambria"/>
                <a:cs typeface="Cambria"/>
              </a:rPr>
              <a:t> </a:t>
            </a:r>
            <a:r>
              <a:rPr sz="4150" spc="-25" dirty="0">
                <a:latin typeface="Cambria"/>
                <a:cs typeface="Cambria"/>
              </a:rPr>
              <a:t>and </a:t>
            </a:r>
            <a:r>
              <a:rPr sz="3950" spc="-10" dirty="0">
                <a:latin typeface="Cambria"/>
                <a:cs typeface="Cambria"/>
              </a:rPr>
              <a:t>BindingDB.</a:t>
            </a:r>
            <a:endParaRPr sz="3950">
              <a:latin typeface="Cambria"/>
              <a:cs typeface="Cambria"/>
            </a:endParaRPr>
          </a:p>
          <a:p>
            <a:pPr marL="401320" indent="-356235">
              <a:lnSpc>
                <a:spcPts val="4870"/>
              </a:lnSpc>
              <a:spcBef>
                <a:spcPts val="1910"/>
              </a:spcBef>
              <a:buChar char="•"/>
              <a:tabLst>
                <a:tab pos="401320" algn="l"/>
              </a:tabLst>
            </a:pPr>
            <a:r>
              <a:rPr sz="4450" spc="-150" dirty="0">
                <a:latin typeface="Times New Roman"/>
                <a:cs typeface="Times New Roman"/>
              </a:rPr>
              <a:t>Target</a:t>
            </a:r>
            <a:r>
              <a:rPr sz="4450" spc="-114" dirty="0">
                <a:latin typeface="Times New Roman"/>
                <a:cs typeface="Times New Roman"/>
              </a:rPr>
              <a:t> </a:t>
            </a:r>
            <a:r>
              <a:rPr sz="4450" spc="-70" dirty="0">
                <a:latin typeface="Times New Roman"/>
                <a:cs typeface="Times New Roman"/>
              </a:rPr>
              <a:t>Interactions:</a:t>
            </a:r>
            <a:endParaRPr sz="4450">
              <a:latin typeface="Times New Roman"/>
              <a:cs typeface="Times New Roman"/>
            </a:endParaRPr>
          </a:p>
          <a:p>
            <a:pPr marL="396875">
              <a:lnSpc>
                <a:spcPts val="4315"/>
              </a:lnSpc>
            </a:pPr>
            <a:r>
              <a:rPr sz="4350" spc="-434" dirty="0">
                <a:latin typeface="Times New Roman"/>
                <a:cs typeface="Times New Roman"/>
              </a:rPr>
              <a:t>MYC-</a:t>
            </a:r>
            <a:r>
              <a:rPr sz="4350" spc="-465" dirty="0">
                <a:latin typeface="Times New Roman"/>
                <a:cs typeface="Times New Roman"/>
              </a:rPr>
              <a:t>M4X</a:t>
            </a:r>
            <a:r>
              <a:rPr sz="4350" spc="-30" dirty="0">
                <a:latin typeface="Times New Roman"/>
                <a:cs typeface="Times New Roman"/>
              </a:rPr>
              <a:t> </a:t>
            </a:r>
            <a:r>
              <a:rPr sz="4350" spc="-35" dirty="0">
                <a:latin typeface="Times New Roman"/>
                <a:cs typeface="Times New Roman"/>
              </a:rPr>
              <a:t>and</a:t>
            </a:r>
            <a:r>
              <a:rPr sz="4350" spc="-195" dirty="0">
                <a:latin typeface="Times New Roman"/>
                <a:cs typeface="Times New Roman"/>
              </a:rPr>
              <a:t> </a:t>
            </a:r>
            <a:r>
              <a:rPr sz="4350" spc="-50" dirty="0">
                <a:latin typeface="Times New Roman"/>
                <a:cs typeface="Times New Roman"/>
              </a:rPr>
              <a:t>9</a:t>
            </a:r>
            <a:endParaRPr sz="4350">
              <a:latin typeface="Times New Roman"/>
              <a:cs typeface="Times New Roman"/>
            </a:endParaRPr>
          </a:p>
          <a:p>
            <a:pPr marL="412750">
              <a:lnSpc>
                <a:spcPts val="4725"/>
              </a:lnSpc>
            </a:pPr>
            <a:r>
              <a:rPr sz="4300" spc="-75" dirty="0">
                <a:latin typeface="Times New Roman"/>
                <a:cs typeface="Times New Roman"/>
              </a:rPr>
              <a:t>catenin-</a:t>
            </a:r>
            <a:r>
              <a:rPr sz="4300" spc="-20" dirty="0">
                <a:latin typeface="Times New Roman"/>
                <a:cs typeface="Times New Roman"/>
              </a:rPr>
              <a:t>TCF</a:t>
            </a:r>
            <a:r>
              <a:rPr sz="6450" spc="-30" baseline="-5813" dirty="0">
                <a:latin typeface="Times New Roman"/>
                <a:cs typeface="Times New Roman"/>
              </a:rPr>
              <a:t>4</a:t>
            </a:r>
            <a:endParaRPr sz="6450" baseline="-58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62215" y="1694744"/>
            <a:ext cx="3898900" cy="681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300" spc="-545" dirty="0">
                <a:solidFill>
                  <a:srgbClr val="213D4B"/>
                </a:solidFill>
                <a:latin typeface="Arial MT"/>
                <a:cs typeface="Arial MT"/>
              </a:rPr>
              <a:t>MYC</a:t>
            </a:r>
            <a:r>
              <a:rPr sz="4300" spc="-145" dirty="0">
                <a:solidFill>
                  <a:srgbClr val="213D4B"/>
                </a:solidFill>
                <a:latin typeface="Arial MT"/>
                <a:cs typeface="Arial MT"/>
              </a:rPr>
              <a:t> </a:t>
            </a:r>
            <a:r>
              <a:rPr sz="4300" spc="-370" dirty="0">
                <a:solidFill>
                  <a:srgbClr val="1A3442"/>
                </a:solidFill>
                <a:latin typeface="Arial MT"/>
                <a:cs typeface="Arial MT"/>
              </a:rPr>
              <a:t>Data</a:t>
            </a:r>
            <a:r>
              <a:rPr sz="4300" spc="-15" dirty="0">
                <a:solidFill>
                  <a:srgbClr val="1A3442"/>
                </a:solidFill>
                <a:latin typeface="Arial MT"/>
                <a:cs typeface="Arial MT"/>
              </a:rPr>
              <a:t> </a:t>
            </a:r>
            <a:r>
              <a:rPr sz="4300" spc="-335" dirty="0">
                <a:solidFill>
                  <a:srgbClr val="282828"/>
                </a:solidFill>
                <a:latin typeface="Arial MT"/>
                <a:cs typeface="Arial MT"/>
              </a:rPr>
              <a:t>Volume</a:t>
            </a:r>
            <a:endParaRPr sz="4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88370" y="2831394"/>
            <a:ext cx="1746250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40" dirty="0">
                <a:latin typeface="Arial MT"/>
                <a:cs typeface="Arial MT"/>
              </a:rPr>
              <a:t>850</a:t>
            </a:r>
            <a:r>
              <a:rPr sz="3050" spc="-165" dirty="0">
                <a:latin typeface="Arial MT"/>
                <a:cs typeface="Arial MT"/>
              </a:rPr>
              <a:t> </a:t>
            </a:r>
            <a:r>
              <a:rPr sz="3050" spc="-70" dirty="0">
                <a:latin typeface="Arial MT"/>
                <a:cs typeface="Arial MT"/>
              </a:rPr>
              <a:t>Active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51484" y="3667125"/>
            <a:ext cx="2523490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140" dirty="0">
                <a:latin typeface="Arial MT"/>
                <a:cs typeface="Arial MT"/>
              </a:rPr>
              <a:t>16,689</a:t>
            </a:r>
            <a:r>
              <a:rPr sz="3100" spc="-50" dirty="0">
                <a:latin typeface="Arial MT"/>
                <a:cs typeface="Arial MT"/>
              </a:rPr>
              <a:t> </a:t>
            </a:r>
            <a:r>
              <a:rPr sz="3100" spc="-60" dirty="0">
                <a:latin typeface="Arial MT"/>
                <a:cs typeface="Arial MT"/>
              </a:rPr>
              <a:t>Inactive</a:t>
            </a:r>
            <a:endParaRPr sz="3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58659" y="4799541"/>
            <a:ext cx="472821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240" dirty="0">
                <a:solidFill>
                  <a:srgbClr val="2D2D2D"/>
                </a:solidFill>
                <a:latin typeface="Arial MT"/>
                <a:cs typeface="Arial MT"/>
              </a:rPr>
              <a:t>CTNNB1</a:t>
            </a:r>
            <a:r>
              <a:rPr sz="3950" spc="-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3950" spc="-145" dirty="0">
                <a:solidFill>
                  <a:srgbClr val="213B49"/>
                </a:solidFill>
                <a:latin typeface="Arial MT"/>
                <a:cs typeface="Arial MT"/>
              </a:rPr>
              <a:t>Data</a:t>
            </a:r>
            <a:r>
              <a:rPr sz="3950" spc="-100" dirty="0">
                <a:solidFill>
                  <a:srgbClr val="213B49"/>
                </a:solidFill>
                <a:latin typeface="Arial MT"/>
                <a:cs typeface="Arial MT"/>
              </a:rPr>
              <a:t> </a:t>
            </a:r>
            <a:r>
              <a:rPr sz="3950" spc="-95" dirty="0">
                <a:solidFill>
                  <a:srgbClr val="1A313F"/>
                </a:solidFill>
                <a:latin typeface="Arial MT"/>
                <a:cs typeface="Arial MT"/>
              </a:rPr>
              <a:t>Volume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1044" y="5841294"/>
            <a:ext cx="2060575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90" dirty="0">
                <a:latin typeface="Arial MT"/>
                <a:cs typeface="Arial MT"/>
              </a:rPr>
              <a:t>1,359</a:t>
            </a:r>
            <a:r>
              <a:rPr sz="3050" spc="-105" dirty="0">
                <a:latin typeface="Arial MT"/>
                <a:cs typeface="Arial MT"/>
              </a:rPr>
              <a:t> </a:t>
            </a:r>
            <a:r>
              <a:rPr sz="3050" spc="-40" dirty="0">
                <a:latin typeface="Arial MT"/>
                <a:cs typeface="Arial MT"/>
              </a:rPr>
              <a:t>Active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4900" y="1917700"/>
            <a:ext cx="2006600" cy="1638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1879600"/>
            <a:ext cx="1714500" cy="1701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41400" y="1905000"/>
            <a:ext cx="1549400" cy="16510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162701"/>
              </p:ext>
            </p:extLst>
          </p:nvPr>
        </p:nvGraphicFramePr>
        <p:xfrm>
          <a:off x="3754966" y="7442200"/>
          <a:ext cx="12750164" cy="1957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8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46064"/>
                      </a:solidFill>
                      <a:prstDash val="solid"/>
                    </a:lnL>
                    <a:lnR w="28575">
                      <a:solidFill>
                        <a:srgbClr val="446064"/>
                      </a:solidFill>
                      <a:prstDash val="solid"/>
                    </a:lnR>
                    <a:lnT w="28575">
                      <a:solidFill>
                        <a:srgbClr val="446064"/>
                      </a:solidFill>
                      <a:prstDash val="solid"/>
                    </a:lnT>
                    <a:lnB w="28575">
                      <a:solidFill>
                        <a:srgbClr val="44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ts val="4125"/>
                        </a:lnSpc>
                        <a:spcBef>
                          <a:spcPts val="165"/>
                        </a:spcBef>
                      </a:pPr>
                      <a:r>
                        <a:rPr sz="3750" spc="-14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37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750" spc="-105" dirty="0">
                          <a:latin typeface="Times New Roman"/>
                          <a:cs typeface="Times New Roman"/>
                        </a:rPr>
                        <a:t>Benchmarks:</a:t>
                      </a:r>
                      <a:endParaRPr sz="3750" dirty="0">
                        <a:latin typeface="Times New Roman"/>
                        <a:cs typeface="Times New Roman"/>
                      </a:endParaRPr>
                    </a:p>
                    <a:p>
                      <a:pPr marL="226695">
                        <a:lnSpc>
                          <a:spcPts val="3090"/>
                        </a:lnSpc>
                      </a:pPr>
                      <a:r>
                        <a:rPr sz="365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3650" spc="1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Random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Forest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: 98% AUC (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Sharma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&amp;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Arumugam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)</a:t>
                      </a:r>
                    </a:p>
                    <a:p>
                      <a:pPr marL="226695">
                        <a:lnSpc>
                          <a:spcPts val="3090"/>
                        </a:lnSpc>
                      </a:pP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-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Graph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Neural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Networks: 99%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Accuracy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vs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82% 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traditional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(</a:t>
                      </a:r>
                      <a:r>
                        <a:rPr lang="tr-TR" sz="4950" spc="-225" baseline="1683" dirty="0" err="1">
                          <a:latin typeface="Cambria"/>
                          <a:cs typeface="Cambria"/>
                        </a:rPr>
                        <a:t>Noor</a:t>
                      </a:r>
                      <a:r>
                        <a:rPr lang="tr-TR" sz="4950" spc="-225" baseline="1683" dirty="0">
                          <a:latin typeface="Cambria"/>
                          <a:cs typeface="Cambria"/>
                        </a:rPr>
                        <a:t> et al.)</a:t>
                      </a:r>
                      <a:endParaRPr sz="3650" dirty="0">
                        <a:latin typeface="Cambria"/>
                        <a:cs typeface="Cambria"/>
                      </a:endParaRPr>
                    </a:p>
                  </a:txBody>
                  <a:tcPr marL="0" marR="0" marT="20955" marB="0">
                    <a:lnL w="28575">
                      <a:solidFill>
                        <a:srgbClr val="446064"/>
                      </a:solidFill>
                      <a:prstDash val="solid"/>
                    </a:lnL>
                    <a:lnR w="28575">
                      <a:solidFill>
                        <a:srgbClr val="446064"/>
                      </a:solidFill>
                      <a:prstDash val="solid"/>
                    </a:lnR>
                    <a:lnT w="28575">
                      <a:solidFill>
                        <a:srgbClr val="44606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4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446064"/>
                      </a:solidFill>
                      <a:prstDash val="solid"/>
                    </a:lnL>
                    <a:lnR w="28575">
                      <a:solidFill>
                        <a:srgbClr val="446064"/>
                      </a:solidFill>
                      <a:prstDash val="solid"/>
                    </a:lnR>
                    <a:lnT w="28575">
                      <a:solidFill>
                        <a:srgbClr val="446064"/>
                      </a:solidFill>
                      <a:prstDash val="solid"/>
                    </a:lnT>
                    <a:lnB w="28575">
                      <a:solidFill>
                        <a:srgbClr val="4460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3600" dirty="0">
                        <a:latin typeface="Cambria"/>
                        <a:cs typeface="Cambria"/>
                      </a:endParaRPr>
                    </a:p>
                  </a:txBody>
                  <a:tcPr marL="0" marR="0" marT="3810" marB="0">
                    <a:lnL w="28575">
                      <a:solidFill>
                        <a:srgbClr val="446064"/>
                      </a:solidFill>
                      <a:prstDash val="solid"/>
                    </a:lnL>
                    <a:lnB w="28575">
                      <a:solidFill>
                        <a:srgbClr val="4460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spc="-300" dirty="0">
                <a:solidFill>
                  <a:srgbClr val="112F3A"/>
                </a:solidFill>
                <a:latin typeface="Arial MT"/>
                <a:cs typeface="Arial MT"/>
              </a:rPr>
              <a:t>2.2</a:t>
            </a:r>
            <a:r>
              <a:rPr sz="5250" spc="-355" dirty="0">
                <a:solidFill>
                  <a:srgbClr val="112F3A"/>
                </a:solidFill>
                <a:latin typeface="Arial MT"/>
                <a:cs typeface="Arial MT"/>
              </a:rPr>
              <a:t> </a:t>
            </a:r>
            <a:r>
              <a:rPr sz="5250" spc="-459" dirty="0">
                <a:solidFill>
                  <a:srgbClr val="2A2A2A"/>
                </a:solidFill>
                <a:latin typeface="Arial MT"/>
                <a:cs typeface="Arial MT"/>
              </a:rPr>
              <a:t>Machine</a:t>
            </a:r>
            <a:r>
              <a:rPr sz="5250" spc="10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250" spc="-415" dirty="0">
                <a:solidFill>
                  <a:srgbClr val="21444F"/>
                </a:solidFill>
                <a:latin typeface="Arial MT"/>
                <a:cs typeface="Arial MT"/>
              </a:rPr>
              <a:t>Learning</a:t>
            </a:r>
            <a:r>
              <a:rPr sz="5250" spc="-5" dirty="0">
                <a:solidFill>
                  <a:srgbClr val="21444F"/>
                </a:solidFill>
                <a:latin typeface="Arial MT"/>
                <a:cs typeface="Arial MT"/>
              </a:rPr>
              <a:t> </a:t>
            </a:r>
            <a:r>
              <a:rPr sz="5250" spc="-405" dirty="0">
                <a:solidFill>
                  <a:srgbClr val="1F3F49"/>
                </a:solidFill>
                <a:latin typeface="Arial MT"/>
                <a:cs typeface="Arial MT"/>
              </a:rPr>
              <a:t>Model</a:t>
            </a:r>
            <a:r>
              <a:rPr sz="5250" spc="-125" dirty="0">
                <a:solidFill>
                  <a:srgbClr val="1F3F49"/>
                </a:solidFill>
                <a:latin typeface="Arial MT"/>
                <a:cs typeface="Arial MT"/>
              </a:rPr>
              <a:t> </a:t>
            </a:r>
            <a:r>
              <a:rPr sz="5250" spc="-484" dirty="0">
                <a:solidFill>
                  <a:srgbClr val="2A2A2A"/>
                </a:solidFill>
                <a:latin typeface="Arial MT"/>
                <a:cs typeface="Arial MT"/>
              </a:rPr>
              <a:t>Development</a:t>
            </a:r>
            <a:r>
              <a:rPr sz="5250" spc="39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250" spc="-530" dirty="0">
                <a:solidFill>
                  <a:srgbClr val="26424D"/>
                </a:solidFill>
                <a:latin typeface="Arial MT"/>
                <a:cs typeface="Arial MT"/>
              </a:rPr>
              <a:t>and</a:t>
            </a:r>
            <a:r>
              <a:rPr sz="5250" spc="-235" dirty="0">
                <a:solidFill>
                  <a:srgbClr val="26424D"/>
                </a:solidFill>
                <a:latin typeface="Arial MT"/>
                <a:cs typeface="Arial MT"/>
              </a:rPr>
              <a:t> </a:t>
            </a:r>
            <a:r>
              <a:rPr sz="5250" spc="-335" dirty="0">
                <a:solidFill>
                  <a:srgbClr val="2A2A2A"/>
                </a:solidFill>
                <a:latin typeface="Arial MT"/>
                <a:cs typeface="Arial MT"/>
              </a:rPr>
              <a:t>Optimization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3725" y="2858911"/>
            <a:ext cx="2172335" cy="618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850" spc="-130" dirty="0">
                <a:solidFill>
                  <a:srgbClr val="343434"/>
                </a:solidFill>
                <a:latin typeface="Arial MT"/>
                <a:cs typeface="Arial MT"/>
              </a:rPr>
              <a:t>Algorithms</a:t>
            </a:r>
            <a:endParaRPr sz="38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8197" y="5447241"/>
            <a:ext cx="2406650" cy="11366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07060" marR="5080" indent="-594995">
              <a:lnSpc>
                <a:spcPts val="4000"/>
              </a:lnSpc>
              <a:spcBef>
                <a:spcPts val="855"/>
              </a:spcBef>
            </a:pPr>
            <a:r>
              <a:rPr sz="3950" spc="-185" dirty="0">
                <a:solidFill>
                  <a:srgbClr val="2A2A2A"/>
                </a:solidFill>
                <a:latin typeface="Calibri"/>
                <a:cs typeface="Calibri"/>
              </a:rPr>
              <a:t>Optimization </a:t>
            </a:r>
            <a:r>
              <a:rPr sz="3950" spc="-540" dirty="0">
                <a:solidFill>
                  <a:srgbClr val="213D48"/>
                </a:solidFill>
                <a:latin typeface="Calibri"/>
                <a:cs typeface="Calibri"/>
              </a:rPr>
              <a:t>&amp;</a:t>
            </a:r>
            <a:r>
              <a:rPr sz="3950" spc="-80" dirty="0">
                <a:solidFill>
                  <a:srgbClr val="213D48"/>
                </a:solidFill>
                <a:latin typeface="Calibri"/>
                <a:cs typeface="Calibri"/>
              </a:rPr>
              <a:t> </a:t>
            </a:r>
            <a:r>
              <a:rPr sz="3950" spc="-165" dirty="0">
                <a:solidFill>
                  <a:srgbClr val="2D2D2D"/>
                </a:solidFill>
                <a:latin typeface="Calibri"/>
                <a:cs typeface="Calibri"/>
              </a:rPr>
              <a:t>Metrics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00142" y="3690408"/>
            <a:ext cx="2693035" cy="10287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998219" marR="5080" indent="-986155">
              <a:lnSpc>
                <a:spcPts val="3650"/>
              </a:lnSpc>
              <a:spcBef>
                <a:spcPts val="720"/>
              </a:spcBef>
            </a:pPr>
            <a:r>
              <a:rPr sz="3550" spc="-385" dirty="0">
                <a:latin typeface="Arial MT"/>
                <a:cs typeface="Arial MT"/>
              </a:rPr>
              <a:t>Random</a:t>
            </a:r>
            <a:r>
              <a:rPr sz="3550" spc="75" dirty="0">
                <a:latin typeface="Arial MT"/>
                <a:cs typeface="Arial MT"/>
              </a:rPr>
              <a:t> </a:t>
            </a:r>
            <a:r>
              <a:rPr sz="3550" spc="-220" dirty="0">
                <a:latin typeface="Arial MT"/>
                <a:cs typeface="Arial MT"/>
              </a:rPr>
              <a:t>Forest </a:t>
            </a:r>
            <a:r>
              <a:rPr sz="3550" spc="-434" dirty="0">
                <a:latin typeface="Arial MT"/>
                <a:cs typeface="Arial MT"/>
              </a:rPr>
              <a:t>(RF)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35862" y="3690408"/>
            <a:ext cx="3204210" cy="102870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30175" marR="5080" indent="-118110">
              <a:lnSpc>
                <a:spcPts val="3650"/>
              </a:lnSpc>
              <a:spcBef>
                <a:spcPts val="720"/>
              </a:spcBef>
            </a:pPr>
            <a:r>
              <a:rPr sz="3550" spc="-260" dirty="0">
                <a:latin typeface="Arial MT"/>
                <a:cs typeface="Arial MT"/>
              </a:rPr>
              <a:t>Gradient</a:t>
            </a:r>
            <a:r>
              <a:rPr sz="3550" spc="-25" dirty="0">
                <a:latin typeface="Arial MT"/>
                <a:cs typeface="Arial MT"/>
              </a:rPr>
              <a:t> </a:t>
            </a:r>
            <a:r>
              <a:rPr sz="3550" spc="-175" dirty="0">
                <a:latin typeface="Arial MT"/>
                <a:cs typeface="Arial MT"/>
              </a:rPr>
              <a:t>Boosting </a:t>
            </a:r>
            <a:r>
              <a:rPr sz="3550" spc="-270" dirty="0">
                <a:latin typeface="Arial MT"/>
                <a:cs typeface="Arial MT"/>
              </a:rPr>
              <a:t>Machines</a:t>
            </a:r>
            <a:r>
              <a:rPr sz="3550" spc="204" dirty="0">
                <a:latin typeface="Arial MT"/>
                <a:cs typeface="Arial MT"/>
              </a:rPr>
              <a:t> </a:t>
            </a:r>
            <a:r>
              <a:rPr sz="3550" spc="-400" dirty="0">
                <a:latin typeface="Arial MT"/>
                <a:cs typeface="Arial MT"/>
              </a:rPr>
              <a:t>(GBM)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59434" y="3690408"/>
            <a:ext cx="2917165" cy="105057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 marR="5080" indent="280670">
              <a:lnSpc>
                <a:spcPts val="3650"/>
              </a:lnSpc>
              <a:spcBef>
                <a:spcPts val="720"/>
              </a:spcBef>
            </a:pPr>
            <a:r>
              <a:rPr lang="tr-TR" sz="3550" spc="-290" dirty="0">
                <a:latin typeface="Arial MT"/>
                <a:cs typeface="Arial MT"/>
              </a:rPr>
              <a:t>G</a:t>
            </a:r>
            <a:r>
              <a:rPr sz="3550" spc="-290" dirty="0" err="1">
                <a:latin typeface="Arial MT"/>
                <a:cs typeface="Arial MT"/>
              </a:rPr>
              <a:t>raph</a:t>
            </a:r>
            <a:r>
              <a:rPr sz="3550" spc="-120" dirty="0">
                <a:latin typeface="Arial MT"/>
                <a:cs typeface="Arial MT"/>
              </a:rPr>
              <a:t> </a:t>
            </a:r>
            <a:r>
              <a:rPr sz="3550" spc="-55" dirty="0">
                <a:latin typeface="Arial MT"/>
                <a:cs typeface="Arial MT"/>
              </a:rPr>
              <a:t>Neural </a:t>
            </a:r>
            <a:r>
              <a:rPr sz="3550" spc="-229" dirty="0">
                <a:latin typeface="Arial MT"/>
                <a:cs typeface="Arial MT"/>
              </a:rPr>
              <a:t>Networks</a:t>
            </a:r>
            <a:r>
              <a:rPr sz="3550" spc="-15" dirty="0">
                <a:latin typeface="Arial MT"/>
                <a:cs typeface="Arial MT"/>
              </a:rPr>
              <a:t> </a:t>
            </a:r>
            <a:r>
              <a:rPr sz="3550" spc="-350" dirty="0">
                <a:latin typeface="Arial MT"/>
                <a:cs typeface="Arial MT"/>
              </a:rPr>
              <a:t>(</a:t>
            </a:r>
            <a:r>
              <a:rPr lang="tr-TR" sz="3550" spc="-350" dirty="0">
                <a:latin typeface="Arial MT"/>
                <a:cs typeface="Arial MT"/>
              </a:rPr>
              <a:t>G</a:t>
            </a:r>
            <a:r>
              <a:rPr sz="3550" spc="-350" dirty="0">
                <a:latin typeface="Arial MT"/>
                <a:cs typeface="Arial MT"/>
              </a:rPr>
              <a:t>NN)</a:t>
            </a:r>
            <a:endParaRPr sz="355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1138" y="5012619"/>
            <a:ext cx="5386705" cy="197103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2225" marR="5080" indent="-10160">
              <a:lnSpc>
                <a:spcPct val="83000"/>
              </a:lnSpc>
              <a:spcBef>
                <a:spcPts val="875"/>
              </a:spcBef>
            </a:pPr>
            <a:r>
              <a:rPr sz="3650" spc="-120" dirty="0">
                <a:latin typeface="Cambria"/>
                <a:cs typeface="Cambria"/>
              </a:rPr>
              <a:t>Optimization</a:t>
            </a:r>
            <a:r>
              <a:rPr sz="3650" spc="-45" dirty="0">
                <a:latin typeface="Cambria"/>
                <a:cs typeface="Cambria"/>
              </a:rPr>
              <a:t> </a:t>
            </a:r>
            <a:r>
              <a:rPr sz="3650" spc="-20" dirty="0">
                <a:latin typeface="Cambria"/>
                <a:cs typeface="Cambria"/>
              </a:rPr>
              <a:t>Strategy: </a:t>
            </a:r>
            <a:r>
              <a:rPr sz="3650" spc="-215" dirty="0">
                <a:latin typeface="Cambria"/>
                <a:cs typeface="Cambria"/>
              </a:rPr>
              <a:t>Hyperparameter</a:t>
            </a:r>
            <a:r>
              <a:rPr sz="3650" spc="-120" dirty="0">
                <a:latin typeface="Cambria"/>
                <a:cs typeface="Cambria"/>
              </a:rPr>
              <a:t> </a:t>
            </a:r>
            <a:r>
              <a:rPr sz="3650" spc="-140" dirty="0">
                <a:latin typeface="Cambria"/>
                <a:cs typeface="Cambria"/>
              </a:rPr>
              <a:t>optimization </a:t>
            </a:r>
            <a:r>
              <a:rPr sz="3650" spc="-150" dirty="0">
                <a:latin typeface="Cambria"/>
                <a:cs typeface="Cambria"/>
              </a:rPr>
              <a:t>via</a:t>
            </a:r>
            <a:r>
              <a:rPr sz="3650" spc="-140" dirty="0">
                <a:latin typeface="Cambria"/>
                <a:cs typeface="Cambria"/>
              </a:rPr>
              <a:t> </a:t>
            </a:r>
            <a:r>
              <a:rPr sz="3650" spc="-185" dirty="0">
                <a:latin typeface="Cambria"/>
                <a:cs typeface="Cambria"/>
              </a:rPr>
              <a:t>Grid</a:t>
            </a:r>
            <a:r>
              <a:rPr sz="3650" spc="5" dirty="0">
                <a:latin typeface="Cambria"/>
                <a:cs typeface="Cambria"/>
              </a:rPr>
              <a:t> </a:t>
            </a:r>
            <a:r>
              <a:rPr sz="3650" spc="-190" dirty="0">
                <a:latin typeface="Cambria"/>
                <a:cs typeface="Cambria"/>
              </a:rPr>
              <a:t>Search</a:t>
            </a:r>
            <a:r>
              <a:rPr sz="3650" spc="20" dirty="0">
                <a:latin typeface="Cambria"/>
                <a:cs typeface="Cambria"/>
              </a:rPr>
              <a:t> </a:t>
            </a:r>
            <a:r>
              <a:rPr sz="3650" spc="-25" dirty="0">
                <a:latin typeface="Cambria"/>
                <a:cs typeface="Cambria"/>
              </a:rPr>
              <a:t>and </a:t>
            </a:r>
            <a:r>
              <a:rPr sz="3650" spc="-210" dirty="0">
                <a:latin typeface="Cambria"/>
                <a:cs typeface="Cambria"/>
              </a:rPr>
              <a:t>Randomized</a:t>
            </a:r>
            <a:r>
              <a:rPr sz="3650" spc="70" dirty="0">
                <a:latin typeface="Cambria"/>
                <a:cs typeface="Cambria"/>
              </a:rPr>
              <a:t> </a:t>
            </a:r>
            <a:r>
              <a:rPr sz="3650" spc="-10" dirty="0">
                <a:latin typeface="Cambria"/>
                <a:cs typeface="Cambria"/>
              </a:rPr>
              <a:t>Search.</a:t>
            </a:r>
            <a:endParaRPr sz="36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347969" y="5012619"/>
            <a:ext cx="5935345" cy="208217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860">
              <a:lnSpc>
                <a:spcPts val="4015"/>
              </a:lnSpc>
              <a:spcBef>
                <a:spcPts val="130"/>
              </a:spcBef>
            </a:pPr>
            <a:r>
              <a:rPr sz="3650" spc="-155" dirty="0">
                <a:latin typeface="Cambria"/>
                <a:cs typeface="Cambria"/>
              </a:rPr>
              <a:t>Validation</a:t>
            </a:r>
            <a:r>
              <a:rPr sz="3650" spc="-114" dirty="0">
                <a:latin typeface="Cambria"/>
                <a:cs typeface="Cambria"/>
              </a:rPr>
              <a:t> </a:t>
            </a:r>
            <a:r>
              <a:rPr sz="3650" spc="-10" dirty="0">
                <a:latin typeface="Cambria"/>
                <a:cs typeface="Cambria"/>
              </a:rPr>
              <a:t>Metrics:</a:t>
            </a:r>
            <a:endParaRPr sz="3650" dirty="0">
              <a:latin typeface="Cambria"/>
              <a:cs typeface="Cambria"/>
            </a:endParaRPr>
          </a:p>
          <a:p>
            <a:pPr marL="16510" marR="5080" indent="-4445">
              <a:lnSpc>
                <a:spcPct val="82800"/>
              </a:lnSpc>
              <a:spcBef>
                <a:spcPts val="385"/>
              </a:spcBef>
            </a:pPr>
            <a:r>
              <a:rPr lang="en-US" sz="3650" spc="-220" dirty="0">
                <a:latin typeface="Cambria"/>
                <a:cs typeface="Cambria"/>
              </a:rPr>
              <a:t>10-fold cross-validation</a:t>
            </a:r>
          </a:p>
          <a:p>
            <a:pPr marL="16510" marR="5080" indent="-4445">
              <a:lnSpc>
                <a:spcPct val="82800"/>
              </a:lnSpc>
              <a:spcBef>
                <a:spcPts val="385"/>
              </a:spcBef>
            </a:pPr>
            <a:r>
              <a:rPr lang="en-US" sz="3650" spc="-220" dirty="0">
                <a:latin typeface="Cambria"/>
                <a:cs typeface="Cambria"/>
              </a:rPr>
              <a:t>evaluating AUC, precision, recall,</a:t>
            </a:r>
          </a:p>
          <a:p>
            <a:pPr marL="16510" marR="5080" indent="-4445">
              <a:lnSpc>
                <a:spcPct val="82800"/>
              </a:lnSpc>
              <a:spcBef>
                <a:spcPts val="385"/>
              </a:spcBef>
            </a:pPr>
            <a:r>
              <a:rPr lang="en-US" sz="3650" spc="-220" dirty="0">
                <a:latin typeface="Cambria"/>
                <a:cs typeface="Cambria"/>
              </a:rPr>
              <a:t>and F1-score.</a:t>
            </a:r>
            <a:endParaRPr sz="3650" dirty="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01085" y="7933619"/>
            <a:ext cx="231838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45" dirty="0">
                <a:solidFill>
                  <a:srgbClr val="2F2F2F"/>
                </a:solidFill>
                <a:latin typeface="Cambria"/>
                <a:cs typeface="Cambria"/>
              </a:rPr>
              <a:t>Benchmarks</a:t>
            </a:r>
            <a:endParaRPr sz="3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900" y="1981200"/>
            <a:ext cx="9182100" cy="7353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964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25"/>
              </a:spcBef>
            </a:pPr>
            <a:r>
              <a:rPr sz="5600" spc="-290" dirty="0">
                <a:solidFill>
                  <a:srgbClr val="313131"/>
                </a:solidFill>
                <a:latin typeface="Arial MT"/>
                <a:cs typeface="Arial MT"/>
              </a:rPr>
              <a:t>2.3</a:t>
            </a:r>
            <a:r>
              <a:rPr sz="5600" spc="-17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5600" spc="-215" dirty="0">
                <a:solidFill>
                  <a:srgbClr val="2A2A2A"/>
                </a:solidFill>
                <a:latin typeface="Arial MT"/>
                <a:cs typeface="Arial MT"/>
              </a:rPr>
              <a:t>Virtual</a:t>
            </a:r>
            <a:r>
              <a:rPr sz="5600" spc="-18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600" spc="-400" dirty="0">
                <a:solidFill>
                  <a:srgbClr val="282828"/>
                </a:solidFill>
                <a:latin typeface="Arial MT"/>
                <a:cs typeface="Arial MT"/>
              </a:rPr>
              <a:t>Screening</a:t>
            </a:r>
            <a:r>
              <a:rPr sz="5600" spc="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5600" spc="-440" dirty="0">
                <a:solidFill>
                  <a:srgbClr val="1F3B48"/>
                </a:solidFill>
                <a:latin typeface="Arial MT"/>
                <a:cs typeface="Arial MT"/>
              </a:rPr>
              <a:t>and</a:t>
            </a:r>
            <a:r>
              <a:rPr sz="5600" spc="-365" dirty="0">
                <a:solidFill>
                  <a:srgbClr val="1F3B48"/>
                </a:solidFill>
                <a:latin typeface="Arial MT"/>
                <a:cs typeface="Arial MT"/>
              </a:rPr>
              <a:t> </a:t>
            </a:r>
            <a:r>
              <a:rPr sz="5600" spc="-165" dirty="0">
                <a:solidFill>
                  <a:srgbClr val="212121"/>
                </a:solidFill>
                <a:latin typeface="Arial MT"/>
                <a:cs typeface="Arial MT"/>
              </a:rPr>
              <a:t>Hit</a:t>
            </a:r>
            <a:r>
              <a:rPr sz="5600" spc="-13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5600" spc="-345" dirty="0">
                <a:solidFill>
                  <a:srgbClr val="2A2A2A"/>
                </a:solidFill>
                <a:latin typeface="Arial MT"/>
                <a:cs typeface="Arial MT"/>
              </a:rPr>
              <a:t>Molecule</a:t>
            </a:r>
            <a:r>
              <a:rPr sz="5600" spc="-6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600" spc="-90" dirty="0">
                <a:solidFill>
                  <a:srgbClr val="2A2A2A"/>
                </a:solidFill>
                <a:latin typeface="Arial MT"/>
                <a:cs typeface="Arial MT"/>
              </a:rPr>
              <a:t>Identification</a:t>
            </a:r>
            <a:endParaRPr sz="5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5220" y="2906536"/>
            <a:ext cx="7179309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419985" algn="l"/>
              </a:tabLst>
            </a:pPr>
            <a:r>
              <a:rPr lang="en-US" sz="3250" spc="-225" dirty="0">
                <a:solidFill>
                  <a:srgbClr val="9A7970"/>
                </a:solidFill>
                <a:latin typeface="Cambria"/>
                <a:cs typeface="Cambria"/>
              </a:rPr>
              <a:t>Molecules with available activity &amp; low toxicity</a:t>
            </a:r>
            <a:endParaRPr sz="32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5280" y="4253441"/>
            <a:ext cx="365061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09" dirty="0">
                <a:latin typeface="Calibri"/>
                <a:cs typeface="Calibri"/>
              </a:rPr>
              <a:t>ML</a:t>
            </a:r>
            <a:r>
              <a:rPr sz="3950" spc="-140" dirty="0">
                <a:latin typeface="Calibri"/>
                <a:cs typeface="Calibri"/>
              </a:rPr>
              <a:t> </a:t>
            </a:r>
            <a:r>
              <a:rPr sz="3950" spc="-380" dirty="0">
                <a:latin typeface="Calibri"/>
                <a:cs typeface="Calibri"/>
              </a:rPr>
              <a:t>Model</a:t>
            </a:r>
            <a:r>
              <a:rPr sz="3950" spc="-30" dirty="0">
                <a:latin typeface="Calibri"/>
                <a:cs typeface="Calibri"/>
              </a:rPr>
              <a:t> </a:t>
            </a:r>
            <a:r>
              <a:rPr sz="3950" spc="-225" dirty="0">
                <a:latin typeface="Calibri"/>
                <a:cs typeface="Calibri"/>
              </a:rPr>
              <a:t>Prediction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7437" y="5860344"/>
            <a:ext cx="4114800" cy="1179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1755" algn="r">
              <a:lnSpc>
                <a:spcPts val="4630"/>
              </a:lnSpc>
              <a:spcBef>
                <a:spcPts val="105"/>
              </a:spcBef>
            </a:pPr>
            <a:r>
              <a:rPr sz="4300" spc="-380" dirty="0">
                <a:latin typeface="Calibri"/>
                <a:cs typeface="Calibri"/>
              </a:rPr>
              <a:t>Molecular</a:t>
            </a:r>
            <a:r>
              <a:rPr sz="4300" spc="110" dirty="0">
                <a:latin typeface="Calibri"/>
                <a:cs typeface="Calibri"/>
              </a:rPr>
              <a:t> </a:t>
            </a:r>
            <a:r>
              <a:rPr sz="4300" spc="-315" dirty="0">
                <a:latin typeface="Calibri"/>
                <a:cs typeface="Calibri"/>
              </a:rPr>
              <a:t>Docking</a:t>
            </a:r>
            <a:endParaRPr sz="4300">
              <a:latin typeface="Calibri"/>
              <a:cs typeface="Calibri"/>
            </a:endParaRPr>
          </a:p>
          <a:p>
            <a:pPr marR="5080" algn="r">
              <a:lnSpc>
                <a:spcPts val="4450"/>
              </a:lnSpc>
            </a:pPr>
            <a:r>
              <a:rPr sz="4150" spc="-305" dirty="0">
                <a:latin typeface="Calibri"/>
                <a:cs typeface="Calibri"/>
              </a:rPr>
              <a:t>(AutoDock</a:t>
            </a:r>
            <a:r>
              <a:rPr sz="4150" spc="120" dirty="0">
                <a:latin typeface="Calibri"/>
                <a:cs typeface="Calibri"/>
              </a:rPr>
              <a:t> </a:t>
            </a:r>
            <a:r>
              <a:rPr sz="4150" spc="-275" dirty="0">
                <a:latin typeface="Calibri"/>
                <a:cs typeface="Calibri"/>
              </a:rPr>
              <a:t>VinafGlide)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0988" y="4295775"/>
            <a:ext cx="3472815" cy="911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3385"/>
              </a:lnSpc>
              <a:spcBef>
                <a:spcPts val="125"/>
              </a:spcBef>
            </a:pPr>
            <a:r>
              <a:rPr sz="3100" spc="-25" dirty="0">
                <a:solidFill>
                  <a:srgbClr val="447770"/>
                </a:solidFill>
                <a:latin typeface="Calibri"/>
                <a:cs typeface="Calibri"/>
              </a:rPr>
              <a:t>Filter</a:t>
            </a:r>
            <a:r>
              <a:rPr sz="3100" spc="-110" dirty="0">
                <a:solidFill>
                  <a:srgbClr val="447770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447772"/>
                </a:solidFill>
                <a:latin typeface="Calibri"/>
                <a:cs typeface="Calibri"/>
              </a:rPr>
              <a:t>Criteria:</a:t>
            </a:r>
            <a:endParaRPr sz="3100" dirty="0">
              <a:latin typeface="Calibri"/>
              <a:cs typeface="Calibri"/>
            </a:endParaRPr>
          </a:p>
          <a:p>
            <a:pPr algn="ctr">
              <a:lnSpc>
                <a:spcPts val="3565"/>
              </a:lnSpc>
            </a:pPr>
            <a:r>
              <a:rPr lang="tr-TR" sz="3250" spc="-180" dirty="0" err="1">
                <a:latin typeface="Calibri"/>
                <a:cs typeface="Calibri"/>
              </a:rPr>
              <a:t>Prediction</a:t>
            </a:r>
            <a:r>
              <a:rPr lang="tr-TR" sz="3250" spc="-180" dirty="0">
                <a:latin typeface="Calibri"/>
                <a:cs typeface="Calibri"/>
              </a:rPr>
              <a:t> </a:t>
            </a:r>
            <a:r>
              <a:rPr lang="tr-TR" sz="3250" spc="-180" dirty="0" err="1">
                <a:latin typeface="Calibri"/>
                <a:cs typeface="Calibri"/>
              </a:rPr>
              <a:t>Score</a:t>
            </a:r>
            <a:r>
              <a:rPr lang="tr-TR" sz="3250" spc="-180" dirty="0">
                <a:latin typeface="Calibri"/>
                <a:cs typeface="Calibri"/>
              </a:rPr>
              <a:t> ≥ 0.80</a:t>
            </a:r>
            <a:endParaRPr sz="325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5621" y="5720644"/>
            <a:ext cx="3046095" cy="1887376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93675" marR="175895" indent="-24130" algn="ctr">
              <a:lnSpc>
                <a:spcPct val="72400"/>
              </a:lnSpc>
              <a:spcBef>
                <a:spcPts val="1115"/>
              </a:spcBef>
            </a:pPr>
            <a:r>
              <a:rPr sz="2400" spc="-200" dirty="0">
                <a:solidFill>
                  <a:srgbClr val="467970"/>
                </a:solidFill>
                <a:latin typeface="Calibri"/>
                <a:cs typeface="Calibri"/>
              </a:rPr>
              <a:t>Target</a:t>
            </a:r>
            <a:r>
              <a:rPr sz="2400" spc="10" dirty="0">
                <a:solidFill>
                  <a:srgbClr val="467970"/>
                </a:solidFill>
                <a:latin typeface="Calibri"/>
                <a:cs typeface="Calibri"/>
              </a:rPr>
              <a:t> </a:t>
            </a:r>
            <a:r>
              <a:rPr sz="2400" spc="-80" dirty="0">
                <a:solidFill>
                  <a:srgbClr val="3D7570"/>
                </a:solidFill>
                <a:latin typeface="Calibri"/>
                <a:cs typeface="Calibri"/>
              </a:rPr>
              <a:t>Structures: </a:t>
            </a:r>
            <a:r>
              <a:rPr lang="tr-TR" sz="2400" spc="-290" dirty="0">
                <a:latin typeface="Calibri"/>
                <a:cs typeface="Calibri"/>
              </a:rPr>
              <a:t>MYC-MAX (1NKP) &amp;</a:t>
            </a:r>
          </a:p>
          <a:p>
            <a:pPr marL="193675" marR="175895" indent="-24130" algn="ctr">
              <a:lnSpc>
                <a:spcPct val="72400"/>
              </a:lnSpc>
              <a:spcBef>
                <a:spcPts val="1115"/>
              </a:spcBef>
            </a:pPr>
            <a:r>
              <a:rPr lang="tr-TR" sz="2400" spc="-290" dirty="0">
                <a:latin typeface="Calibri"/>
                <a:cs typeface="Calibri"/>
              </a:rPr>
              <a:t>B-catenin-TCF4 (1G3J)</a:t>
            </a:r>
          </a:p>
          <a:p>
            <a:pPr marL="193675" marR="175895" indent="-24130" algn="ctr">
              <a:lnSpc>
                <a:spcPct val="72400"/>
              </a:lnSpc>
              <a:spcBef>
                <a:spcPts val="1115"/>
              </a:spcBef>
            </a:pPr>
            <a:r>
              <a:rPr sz="2400" spc="-160" dirty="0">
                <a:solidFill>
                  <a:srgbClr val="447572"/>
                </a:solidFill>
                <a:latin typeface="Calibri"/>
                <a:cs typeface="Calibri"/>
              </a:rPr>
              <a:t>Filter</a:t>
            </a:r>
            <a:r>
              <a:rPr sz="2400" dirty="0">
                <a:solidFill>
                  <a:srgbClr val="447572"/>
                </a:solidFill>
                <a:latin typeface="Calibri"/>
                <a:cs typeface="Calibri"/>
              </a:rPr>
              <a:t> </a:t>
            </a:r>
            <a:r>
              <a:rPr sz="2400" spc="-70" dirty="0">
                <a:solidFill>
                  <a:srgbClr val="44746E"/>
                </a:solidFill>
                <a:latin typeface="Calibri"/>
                <a:cs typeface="Calibri"/>
              </a:rPr>
              <a:t>Criteria:</a:t>
            </a:r>
            <a:endParaRPr sz="2400" dirty="0">
              <a:latin typeface="Calibri"/>
              <a:cs typeface="Calibri"/>
            </a:endParaRPr>
          </a:p>
          <a:p>
            <a:pPr marR="4445" algn="ctr">
              <a:lnSpc>
                <a:spcPts val="3279"/>
              </a:lnSpc>
            </a:pPr>
            <a:r>
              <a:rPr lang="tr-TR" sz="2400" spc="-300" dirty="0">
                <a:latin typeface="Calibri"/>
                <a:cs typeface="Calibri"/>
              </a:rPr>
              <a:t>AG&lt;-7.0 kcal/mol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41117" y="8053564"/>
            <a:ext cx="2757170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spc="-190" dirty="0">
                <a:latin typeface="Calibri"/>
                <a:cs typeface="Calibri"/>
              </a:rPr>
              <a:t>Final</a:t>
            </a:r>
            <a:r>
              <a:rPr sz="4200" spc="-45" dirty="0">
                <a:latin typeface="Calibri"/>
                <a:cs typeface="Calibri"/>
              </a:rPr>
              <a:t> </a:t>
            </a:r>
            <a:r>
              <a:rPr sz="4200" spc="-280" dirty="0">
                <a:latin typeface="Calibri"/>
                <a:cs typeface="Calibri"/>
              </a:rPr>
              <a:t>Selection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41408" y="7978422"/>
            <a:ext cx="1798955" cy="792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0005" algn="ctr">
              <a:lnSpc>
                <a:spcPts val="2825"/>
              </a:lnSpc>
              <a:spcBef>
                <a:spcPts val="125"/>
              </a:spcBef>
            </a:pPr>
            <a:r>
              <a:rPr sz="2750" spc="-220" dirty="0">
                <a:solidFill>
                  <a:srgbClr val="46726E"/>
                </a:solidFill>
                <a:latin typeface="Calibri"/>
                <a:cs typeface="Calibri"/>
              </a:rPr>
              <a:t>Top</a:t>
            </a:r>
            <a:r>
              <a:rPr sz="2750" spc="35" dirty="0">
                <a:solidFill>
                  <a:srgbClr val="46726E"/>
                </a:solidFill>
                <a:latin typeface="Calibri"/>
                <a:cs typeface="Calibri"/>
              </a:rPr>
              <a:t> </a:t>
            </a:r>
            <a:r>
              <a:rPr sz="2750" spc="-35" dirty="0">
                <a:solidFill>
                  <a:srgbClr val="3F726E"/>
                </a:solidFill>
                <a:latin typeface="Calibri"/>
                <a:cs typeface="Calibri"/>
              </a:rPr>
              <a:t>20-</a:t>
            </a:r>
            <a:r>
              <a:rPr sz="2750" spc="-25" dirty="0">
                <a:solidFill>
                  <a:srgbClr val="3F726E"/>
                </a:solidFill>
                <a:latin typeface="Calibri"/>
                <a:cs typeface="Calibri"/>
              </a:rPr>
              <a:t>30</a:t>
            </a:r>
            <a:endParaRPr sz="2750">
              <a:latin typeface="Calibri"/>
              <a:cs typeface="Calibri"/>
            </a:endParaRPr>
          </a:p>
          <a:p>
            <a:pPr algn="ctr">
              <a:lnSpc>
                <a:spcPts val="3185"/>
              </a:lnSpc>
            </a:pPr>
            <a:r>
              <a:rPr sz="3050" spc="-245" dirty="0">
                <a:latin typeface="Calibri"/>
                <a:cs typeface="Calibri"/>
              </a:rPr>
              <a:t>Hit</a:t>
            </a:r>
            <a:r>
              <a:rPr sz="3050" spc="-90" dirty="0">
                <a:latin typeface="Calibri"/>
                <a:cs typeface="Calibri"/>
              </a:rPr>
              <a:t> </a:t>
            </a:r>
            <a:r>
              <a:rPr sz="3050" spc="-270" dirty="0">
                <a:latin typeface="Calibri"/>
                <a:cs typeface="Calibri"/>
              </a:rPr>
              <a:t>Molecules</a:t>
            </a:r>
            <a:endParaRPr sz="3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933700"/>
            <a:ext cx="1003300" cy="6019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92900" y="2946400"/>
            <a:ext cx="50800" cy="5943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23800" y="4076700"/>
            <a:ext cx="2959100" cy="36576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670800" y="4491566"/>
            <a:ext cx="4233545" cy="3547745"/>
            <a:chOff x="7670800" y="4491566"/>
            <a:chExt cx="4233545" cy="3547745"/>
          </a:xfrm>
        </p:grpSpPr>
        <p:sp>
          <p:nvSpPr>
            <p:cNvPr id="6" name="object 6"/>
            <p:cNvSpPr/>
            <p:nvPr/>
          </p:nvSpPr>
          <p:spPr>
            <a:xfrm>
              <a:off x="7685616" y="4491566"/>
              <a:ext cx="0" cy="3547745"/>
            </a:xfrm>
            <a:custGeom>
              <a:avLst/>
              <a:gdLst/>
              <a:ahLst/>
              <a:cxnLst/>
              <a:rect l="l" t="t" r="r" b="b"/>
              <a:pathLst>
                <a:path h="3547745">
                  <a:moveTo>
                    <a:pt x="0" y="3547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70800" y="7948083"/>
              <a:ext cx="4233545" cy="0"/>
            </a:xfrm>
            <a:custGeom>
              <a:avLst/>
              <a:gdLst/>
              <a:ahLst/>
              <a:cxnLst/>
              <a:rect l="l" t="t" r="r" b="b"/>
              <a:pathLst>
                <a:path w="4233545">
                  <a:moveTo>
                    <a:pt x="0" y="0"/>
                  </a:moveTo>
                  <a:lnTo>
                    <a:pt x="4233333" y="0"/>
                  </a:lnTo>
                </a:path>
              </a:pathLst>
            </a:custGeom>
            <a:ln w="4233">
              <a:solidFill>
                <a:srgbClr val="2F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3500" y="4838699"/>
              <a:ext cx="3848100" cy="23876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138458" y="5743454"/>
            <a:ext cx="414020" cy="11601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000"/>
              </a:lnSpc>
            </a:pPr>
            <a:r>
              <a:rPr sz="3050" spc="-385" dirty="0">
                <a:latin typeface="Calibri"/>
                <a:cs typeface="Calibri"/>
              </a:rPr>
              <a:t>RMS</a:t>
            </a:r>
            <a:r>
              <a:rPr sz="3050" spc="-420" dirty="0">
                <a:latin typeface="Calibri"/>
                <a:cs typeface="Calibri"/>
              </a:rPr>
              <a:t>D</a:t>
            </a:r>
            <a:r>
              <a:rPr sz="3050" spc="150" dirty="0">
                <a:latin typeface="Calibri"/>
                <a:cs typeface="Calibri"/>
              </a:rPr>
              <a:t>(</a:t>
            </a:r>
            <a:r>
              <a:rPr sz="3050" spc="-375" dirty="0">
                <a:latin typeface="Calibri"/>
                <a:cs typeface="Calibri"/>
              </a:rPr>
              <a:t>å</a:t>
            </a:r>
            <a:r>
              <a:rPr sz="3050" spc="-125" dirty="0">
                <a:latin typeface="Calibri"/>
                <a:cs typeface="Calibri"/>
              </a:rPr>
              <a:t> </a:t>
            </a:r>
            <a:r>
              <a:rPr sz="3050" spc="-785" dirty="0">
                <a:latin typeface="Calibri"/>
                <a:cs typeface="Calibri"/>
              </a:rPr>
              <a:t>)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68527" y="397227"/>
            <a:ext cx="10626090" cy="935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950" spc="-100" dirty="0">
                <a:solidFill>
                  <a:srgbClr val="1D3B44"/>
                </a:solidFill>
                <a:latin typeface="Cambria"/>
                <a:cs typeface="Cambria"/>
              </a:rPr>
              <a:t>2.4</a:t>
            </a:r>
            <a:r>
              <a:rPr sz="5950" spc="-35" dirty="0">
                <a:solidFill>
                  <a:srgbClr val="1D3B44"/>
                </a:solidFill>
                <a:latin typeface="Cambria"/>
                <a:cs typeface="Cambria"/>
              </a:rPr>
              <a:t> </a:t>
            </a:r>
            <a:r>
              <a:rPr sz="5950" spc="-345" dirty="0">
                <a:solidFill>
                  <a:srgbClr val="282828"/>
                </a:solidFill>
                <a:latin typeface="Cambria"/>
                <a:cs typeface="Cambria"/>
              </a:rPr>
              <a:t>Molecular</a:t>
            </a:r>
            <a:r>
              <a:rPr sz="5950" spc="365" dirty="0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5950" spc="-350" dirty="0">
                <a:solidFill>
                  <a:srgbClr val="262626"/>
                </a:solidFill>
                <a:latin typeface="Cambria"/>
                <a:cs typeface="Cambria"/>
              </a:rPr>
              <a:t>Dynamics</a:t>
            </a:r>
            <a:r>
              <a:rPr sz="5950" spc="18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5950" spc="-320" dirty="0">
                <a:solidFill>
                  <a:srgbClr val="2A2A2A"/>
                </a:solidFill>
                <a:latin typeface="Cambria"/>
                <a:cs typeface="Cambria"/>
              </a:rPr>
              <a:t>Simulations</a:t>
            </a:r>
            <a:endParaRPr sz="59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1744" y="1411816"/>
            <a:ext cx="14219555" cy="723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50" spc="-285" dirty="0">
                <a:solidFill>
                  <a:srgbClr val="2B2B2B"/>
                </a:solidFill>
                <a:latin typeface="Arial MT"/>
                <a:cs typeface="Arial MT"/>
              </a:rPr>
              <a:t>Validating</a:t>
            </a:r>
            <a:r>
              <a:rPr sz="4550" spc="-4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4550" spc="-254" dirty="0">
                <a:solidFill>
                  <a:srgbClr val="262626"/>
                </a:solidFill>
                <a:latin typeface="Arial MT"/>
                <a:cs typeface="Arial MT"/>
              </a:rPr>
              <a:t>physical</a:t>
            </a:r>
            <a:r>
              <a:rPr sz="4550" spc="-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4550" spc="-130" dirty="0">
                <a:solidFill>
                  <a:srgbClr val="2D2D2D"/>
                </a:solidFill>
                <a:latin typeface="Arial MT"/>
                <a:cs typeface="Arial MT"/>
              </a:rPr>
              <a:t>stability</a:t>
            </a:r>
            <a:r>
              <a:rPr sz="4550" spc="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4550" spc="-80" dirty="0">
                <a:solidFill>
                  <a:srgbClr val="2A2A2A"/>
                </a:solidFill>
                <a:latin typeface="Arial MT"/>
                <a:cs typeface="Arial MT"/>
              </a:rPr>
              <a:t>in</a:t>
            </a:r>
            <a:r>
              <a:rPr sz="4550" spc="-35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4550" spc="-380" dirty="0">
                <a:solidFill>
                  <a:srgbClr val="1C3842"/>
                </a:solidFill>
                <a:latin typeface="Arial MT"/>
                <a:cs typeface="Arial MT"/>
              </a:rPr>
              <a:t>a</a:t>
            </a:r>
            <a:r>
              <a:rPr sz="4550" spc="-465" dirty="0">
                <a:solidFill>
                  <a:srgbClr val="1C3842"/>
                </a:solidFill>
                <a:latin typeface="Arial MT"/>
                <a:cs typeface="Arial MT"/>
              </a:rPr>
              <a:t> </a:t>
            </a:r>
            <a:r>
              <a:rPr sz="4550" spc="-325" dirty="0">
                <a:solidFill>
                  <a:srgbClr val="2A2A2A"/>
                </a:solidFill>
                <a:latin typeface="Arial MT"/>
                <a:cs typeface="Arial MT"/>
              </a:rPr>
              <a:t>100ns</a:t>
            </a:r>
            <a:r>
              <a:rPr sz="455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4550" spc="-220" dirty="0">
                <a:solidFill>
                  <a:srgbClr val="282828"/>
                </a:solidFill>
                <a:latin typeface="Arial MT"/>
                <a:cs typeface="Arial MT"/>
              </a:rPr>
              <a:t>simulation</a:t>
            </a:r>
            <a:r>
              <a:rPr sz="4550" spc="1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4550" spc="-300" dirty="0">
                <a:solidFill>
                  <a:srgbClr val="2A2A2A"/>
                </a:solidFill>
                <a:latin typeface="Arial MT"/>
                <a:cs typeface="Arial MT"/>
              </a:rPr>
              <a:t>environment.</a:t>
            </a:r>
            <a:endParaRPr sz="4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1511" y="2777066"/>
            <a:ext cx="4074795" cy="2199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10">
              <a:lnSpc>
                <a:spcPct val="100000"/>
              </a:lnSpc>
              <a:spcBef>
                <a:spcPts val="130"/>
              </a:spcBef>
            </a:pPr>
            <a:r>
              <a:rPr sz="4550" spc="-380" dirty="0">
                <a:solidFill>
                  <a:srgbClr val="2B2B2B"/>
                </a:solidFill>
                <a:latin typeface="Cambria"/>
                <a:cs typeface="Cambria"/>
              </a:rPr>
              <a:t>The</a:t>
            </a:r>
            <a:r>
              <a:rPr sz="4550" spc="-50" dirty="0">
                <a:solidFill>
                  <a:srgbClr val="2B2B2B"/>
                </a:solidFill>
                <a:latin typeface="Cambria"/>
                <a:cs typeface="Cambria"/>
              </a:rPr>
              <a:t> </a:t>
            </a:r>
            <a:r>
              <a:rPr sz="4550" spc="-20" dirty="0">
                <a:solidFill>
                  <a:srgbClr val="1F3846"/>
                </a:solidFill>
                <a:latin typeface="Cambria"/>
                <a:cs typeface="Cambria"/>
              </a:rPr>
              <a:t>Setup</a:t>
            </a:r>
            <a:endParaRPr sz="4550">
              <a:latin typeface="Cambria"/>
              <a:cs typeface="Cambria"/>
            </a:endParaRPr>
          </a:p>
          <a:p>
            <a:pPr marL="363855" indent="-351155">
              <a:lnSpc>
                <a:spcPts val="4155"/>
              </a:lnSpc>
              <a:spcBef>
                <a:spcPts val="3490"/>
              </a:spcBef>
              <a:buClr>
                <a:srgbClr val="448780"/>
              </a:buClr>
              <a:buChar char="•"/>
              <a:tabLst>
                <a:tab pos="363855" algn="l"/>
              </a:tabLst>
            </a:pPr>
            <a:r>
              <a:rPr sz="3800" spc="-200" dirty="0">
                <a:latin typeface="Cambria"/>
                <a:cs typeface="Cambria"/>
              </a:rPr>
              <a:t>Soflware:</a:t>
            </a:r>
            <a:r>
              <a:rPr sz="3800" spc="-55" dirty="0">
                <a:latin typeface="Cambria"/>
                <a:cs typeface="Cambria"/>
              </a:rPr>
              <a:t> </a:t>
            </a:r>
            <a:r>
              <a:rPr sz="3800" spc="-305" dirty="0">
                <a:latin typeface="Cambria"/>
                <a:cs typeface="Cambria"/>
              </a:rPr>
              <a:t>GROMACS</a:t>
            </a:r>
            <a:endParaRPr sz="3800">
              <a:latin typeface="Cambria"/>
              <a:cs typeface="Cambria"/>
            </a:endParaRPr>
          </a:p>
          <a:p>
            <a:pPr marL="379095">
              <a:lnSpc>
                <a:spcPts val="3975"/>
              </a:lnSpc>
            </a:pPr>
            <a:r>
              <a:rPr sz="3650" spc="-160" dirty="0">
                <a:latin typeface="Cambria"/>
                <a:cs typeface="Cambria"/>
              </a:rPr>
              <a:t>or</a:t>
            </a:r>
            <a:r>
              <a:rPr sz="3650" spc="-190" dirty="0">
                <a:latin typeface="Cambria"/>
                <a:cs typeface="Cambria"/>
              </a:rPr>
              <a:t> </a:t>
            </a:r>
            <a:r>
              <a:rPr sz="3650" spc="-35" dirty="0">
                <a:latin typeface="Cambria"/>
                <a:cs typeface="Cambria"/>
              </a:rPr>
              <a:t>AMBER</a:t>
            </a:r>
            <a:endParaRPr sz="36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1920" y="5435600"/>
            <a:ext cx="335089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100"/>
              </a:spcBef>
              <a:buClr>
                <a:srgbClr val="468C85"/>
              </a:buClr>
              <a:buChar char="•"/>
              <a:tabLst>
                <a:tab pos="372745" algn="l"/>
              </a:tabLst>
            </a:pPr>
            <a:r>
              <a:rPr sz="3750" spc="-175" dirty="0">
                <a:latin typeface="Calibri"/>
                <a:cs typeface="Calibri"/>
              </a:rPr>
              <a:t>Duration:</a:t>
            </a:r>
            <a:r>
              <a:rPr sz="3750" spc="5" dirty="0">
                <a:latin typeface="Calibri"/>
                <a:cs typeface="Calibri"/>
              </a:rPr>
              <a:t> </a:t>
            </a:r>
            <a:r>
              <a:rPr sz="3750" spc="-235" dirty="0">
                <a:latin typeface="Calibri"/>
                <a:cs typeface="Calibri"/>
              </a:rPr>
              <a:t>1o0</a:t>
            </a:r>
            <a:r>
              <a:rPr sz="3750" spc="-190" dirty="0">
                <a:latin typeface="Calibri"/>
                <a:cs typeface="Calibri"/>
              </a:rPr>
              <a:t> </a:t>
            </a:r>
            <a:r>
              <a:rPr sz="3750" spc="90" dirty="0">
                <a:latin typeface="Calibri"/>
                <a:cs typeface="Calibri"/>
              </a:rPr>
              <a:t>ns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2927" y="6475941"/>
            <a:ext cx="3843654" cy="2776016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63855" marR="5080" indent="-351790">
              <a:lnSpc>
                <a:spcPct val="77600"/>
              </a:lnSpc>
              <a:spcBef>
                <a:spcPts val="1170"/>
              </a:spcBef>
              <a:buClr>
                <a:srgbClr val="488A83"/>
              </a:buClr>
              <a:buChar char="•"/>
              <a:tabLst>
                <a:tab pos="363855" algn="l"/>
              </a:tabLst>
            </a:pPr>
            <a:r>
              <a:rPr sz="3950" spc="-280" dirty="0">
                <a:latin typeface="Cambria"/>
                <a:cs typeface="Cambria"/>
              </a:rPr>
              <a:t>Metrics:</a:t>
            </a:r>
            <a:r>
              <a:rPr sz="3950" spc="10" dirty="0">
                <a:latin typeface="Cambria"/>
                <a:cs typeface="Cambria"/>
              </a:rPr>
              <a:t> </a:t>
            </a:r>
            <a:r>
              <a:rPr lang="en-US" sz="3200" spc="-335" dirty="0">
                <a:latin typeface="Cambria"/>
                <a:cs typeface="Cambria"/>
              </a:rPr>
              <a:t>RMSD</a:t>
            </a:r>
          </a:p>
          <a:p>
            <a:pPr marL="12065" marR="5080">
              <a:lnSpc>
                <a:spcPct val="77600"/>
              </a:lnSpc>
              <a:spcBef>
                <a:spcPts val="1170"/>
              </a:spcBef>
              <a:buClr>
                <a:srgbClr val="488A83"/>
              </a:buClr>
              <a:tabLst>
                <a:tab pos="363855" algn="l"/>
              </a:tabLst>
            </a:pPr>
            <a:r>
              <a:rPr lang="en-US" sz="3200" spc="-335" dirty="0">
                <a:latin typeface="Cambria"/>
                <a:cs typeface="Cambria"/>
              </a:rPr>
              <a:t>(Root Mean Square</a:t>
            </a:r>
          </a:p>
          <a:p>
            <a:pPr marL="12065" marR="5080">
              <a:lnSpc>
                <a:spcPct val="77600"/>
              </a:lnSpc>
              <a:spcBef>
                <a:spcPts val="1170"/>
              </a:spcBef>
              <a:buClr>
                <a:srgbClr val="488A83"/>
              </a:buClr>
              <a:tabLst>
                <a:tab pos="363855" algn="l"/>
              </a:tabLst>
            </a:pPr>
            <a:r>
              <a:rPr lang="en-US" sz="3200" spc="-335" dirty="0">
                <a:latin typeface="Cambria"/>
                <a:cs typeface="Cambria"/>
              </a:rPr>
              <a:t>Deviation), RMSF,</a:t>
            </a:r>
          </a:p>
          <a:p>
            <a:pPr marL="12065" marR="5080">
              <a:lnSpc>
                <a:spcPct val="77600"/>
              </a:lnSpc>
              <a:spcBef>
                <a:spcPts val="1170"/>
              </a:spcBef>
              <a:buClr>
                <a:srgbClr val="488A83"/>
              </a:buClr>
              <a:tabLst>
                <a:tab pos="363855" algn="l"/>
              </a:tabLst>
            </a:pPr>
            <a:r>
              <a:rPr lang="en-US" sz="3200" spc="-335" dirty="0">
                <a:latin typeface="Cambria"/>
                <a:cs typeface="Cambria"/>
              </a:rPr>
              <a:t>Hydrogen Bond</a:t>
            </a:r>
          </a:p>
          <a:p>
            <a:pPr marL="12065" marR="5080">
              <a:lnSpc>
                <a:spcPct val="77600"/>
              </a:lnSpc>
              <a:spcBef>
                <a:spcPts val="1170"/>
              </a:spcBef>
              <a:buClr>
                <a:srgbClr val="488A83"/>
              </a:buClr>
              <a:tabLst>
                <a:tab pos="363855" algn="l"/>
              </a:tabLst>
            </a:pPr>
            <a:r>
              <a:rPr lang="en-US" sz="3200" spc="-335" dirty="0">
                <a:latin typeface="Cambria"/>
                <a:cs typeface="Cambria"/>
              </a:rPr>
              <a:t>Formation.</a:t>
            </a:r>
            <a:endParaRPr lang="en-US" sz="3200" dirty="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61753" y="2750608"/>
            <a:ext cx="5145405" cy="1634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40815">
              <a:lnSpc>
                <a:spcPct val="100000"/>
              </a:lnSpc>
              <a:spcBef>
                <a:spcPts val="90"/>
              </a:spcBef>
            </a:pPr>
            <a:r>
              <a:rPr sz="4800" spc="-370" dirty="0">
                <a:solidFill>
                  <a:srgbClr val="242424"/>
                </a:solidFill>
                <a:latin typeface="Calibri"/>
                <a:cs typeface="Calibri"/>
              </a:rPr>
              <a:t>The</a:t>
            </a:r>
            <a:r>
              <a:rPr sz="4800" spc="-1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4800" spc="-215" dirty="0">
                <a:solidFill>
                  <a:srgbClr val="2F2F2F"/>
                </a:solidFill>
                <a:latin typeface="Calibri"/>
                <a:cs typeface="Calibri"/>
              </a:rPr>
              <a:t>Visualization</a:t>
            </a:r>
            <a:endParaRPr sz="4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90"/>
              </a:spcBef>
            </a:pPr>
            <a:r>
              <a:rPr sz="3100" spc="-120" dirty="0">
                <a:solidFill>
                  <a:srgbClr val="4D807C"/>
                </a:solidFill>
                <a:latin typeface="Cambria"/>
                <a:cs typeface="Cambria"/>
              </a:rPr>
              <a:t>RMSD</a:t>
            </a:r>
            <a:r>
              <a:rPr sz="3100" spc="-45" dirty="0">
                <a:solidFill>
                  <a:srgbClr val="4D807C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solidFill>
                  <a:srgbClr val="48807E"/>
                </a:solidFill>
                <a:latin typeface="Cambria"/>
                <a:cs typeface="Cambria"/>
              </a:rPr>
              <a:t>Analysis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84856" y="4357158"/>
            <a:ext cx="107886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425" dirty="0">
                <a:latin typeface="Arial MT"/>
                <a:cs typeface="Arial MT"/>
              </a:rPr>
              <a:t>Ligand</a:t>
            </a:r>
            <a:endParaRPr sz="35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99828" y="7649633"/>
            <a:ext cx="20256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spc="-175" dirty="0">
                <a:latin typeface="Arial MT"/>
                <a:cs typeface="Arial MT"/>
              </a:rPr>
              <a:t>0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63965" y="7943497"/>
            <a:ext cx="4582795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765"/>
              </a:lnSpc>
              <a:spcBef>
                <a:spcPts val="100"/>
              </a:spcBef>
              <a:tabLst>
                <a:tab pos="766445" algn="l"/>
                <a:tab pos="1612265" algn="l"/>
                <a:tab pos="2452370" algn="l"/>
                <a:tab pos="3289300" algn="l"/>
                <a:tab pos="4022090" algn="l"/>
              </a:tabLst>
            </a:pPr>
            <a:r>
              <a:rPr sz="3400" spc="-545" dirty="0">
                <a:latin typeface="Arial MT"/>
                <a:cs typeface="Arial MT"/>
              </a:rPr>
              <a:t>0</a:t>
            </a:r>
            <a:r>
              <a:rPr sz="3400" dirty="0">
                <a:latin typeface="Arial MT"/>
                <a:cs typeface="Arial MT"/>
              </a:rPr>
              <a:t>	</a:t>
            </a:r>
            <a:r>
              <a:rPr sz="3400" spc="-560" dirty="0">
                <a:latin typeface="Arial MT"/>
                <a:cs typeface="Arial MT"/>
              </a:rPr>
              <a:t>20</a:t>
            </a:r>
            <a:r>
              <a:rPr sz="3400" dirty="0">
                <a:latin typeface="Arial MT"/>
                <a:cs typeface="Arial MT"/>
              </a:rPr>
              <a:t>	</a:t>
            </a:r>
            <a:r>
              <a:rPr sz="3400" spc="-550" dirty="0">
                <a:latin typeface="Arial MT"/>
                <a:cs typeface="Arial MT"/>
              </a:rPr>
              <a:t>40</a:t>
            </a:r>
            <a:r>
              <a:rPr sz="3400" dirty="0">
                <a:latin typeface="Arial MT"/>
                <a:cs typeface="Arial MT"/>
              </a:rPr>
              <a:t>	</a:t>
            </a:r>
            <a:r>
              <a:rPr sz="3400" spc="-560" dirty="0">
                <a:latin typeface="Arial MT"/>
                <a:cs typeface="Arial MT"/>
              </a:rPr>
              <a:t>60</a:t>
            </a:r>
            <a:r>
              <a:rPr sz="3400" dirty="0">
                <a:latin typeface="Arial MT"/>
                <a:cs typeface="Arial MT"/>
              </a:rPr>
              <a:t>	</a:t>
            </a:r>
            <a:r>
              <a:rPr sz="3400" spc="-550" dirty="0">
                <a:latin typeface="Arial MT"/>
                <a:cs typeface="Arial MT"/>
              </a:rPr>
              <a:t>80</a:t>
            </a:r>
            <a:r>
              <a:rPr sz="3400" dirty="0">
                <a:latin typeface="Arial MT"/>
                <a:cs typeface="Arial MT"/>
              </a:rPr>
              <a:t>	</a:t>
            </a:r>
            <a:r>
              <a:rPr sz="3400" spc="-484" dirty="0">
                <a:latin typeface="Arial MT"/>
                <a:cs typeface="Arial MT"/>
              </a:rPr>
              <a:t>100</a:t>
            </a:r>
            <a:endParaRPr sz="3400" dirty="0">
              <a:latin typeface="Arial MT"/>
              <a:cs typeface="Arial MT"/>
            </a:endParaRPr>
          </a:p>
          <a:p>
            <a:pPr marL="1555750">
              <a:lnSpc>
                <a:spcPts val="4065"/>
              </a:lnSpc>
            </a:pPr>
            <a:r>
              <a:rPr lang="tr-TR" sz="3650" spc="-735" dirty="0">
                <a:latin typeface="Arial MT"/>
                <a:cs typeface="Arial MT"/>
              </a:rPr>
              <a:t>Time (</a:t>
            </a:r>
            <a:r>
              <a:rPr lang="tr-TR" sz="3650" spc="-735" dirty="0" err="1">
                <a:latin typeface="Arial MT"/>
                <a:cs typeface="Arial MT"/>
              </a:rPr>
              <a:t>ns</a:t>
            </a:r>
            <a:r>
              <a:rPr lang="tr-TR" sz="3650" spc="-735" dirty="0">
                <a:latin typeface="Arial MT"/>
                <a:cs typeface="Arial MT"/>
              </a:rPr>
              <a:t>)</a:t>
            </a:r>
            <a:endParaRPr lang="tr-TR" sz="365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070420" y="7943497"/>
            <a:ext cx="3261780" cy="10002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algn="ctr">
              <a:lnSpc>
                <a:spcPts val="3765"/>
              </a:lnSpc>
              <a:spcBef>
                <a:spcPts val="100"/>
              </a:spcBef>
            </a:pPr>
            <a:r>
              <a:rPr lang="tr-TR" sz="3400" spc="-160" dirty="0">
                <a:latin typeface="Arial MT"/>
                <a:cs typeface="Arial MT"/>
              </a:rPr>
              <a:t>Protein-Ligand</a:t>
            </a:r>
          </a:p>
          <a:p>
            <a:pPr marL="29845" algn="ctr">
              <a:lnSpc>
                <a:spcPts val="3765"/>
              </a:lnSpc>
              <a:spcBef>
                <a:spcPts val="100"/>
              </a:spcBef>
            </a:pPr>
            <a:r>
              <a:rPr lang="tr-TR" sz="3400" spc="-160" dirty="0" err="1">
                <a:latin typeface="Arial MT"/>
                <a:cs typeface="Arial MT"/>
              </a:rPr>
              <a:t>Complex</a:t>
            </a:r>
            <a:r>
              <a:rPr lang="tr-TR" sz="3400" spc="-160" dirty="0">
                <a:latin typeface="Arial MT"/>
                <a:cs typeface="Arial MT"/>
              </a:rPr>
              <a:t> </a:t>
            </a:r>
            <a:r>
              <a:rPr lang="tr-TR" sz="3400" spc="-160" dirty="0" err="1">
                <a:latin typeface="Arial MT"/>
                <a:cs typeface="Arial MT"/>
              </a:rPr>
              <a:t>Stability</a:t>
            </a:r>
            <a:r>
              <a:rPr lang="tr-TR" sz="3400" spc="-160" dirty="0">
                <a:latin typeface="Arial MT"/>
                <a:cs typeface="Arial MT"/>
              </a:rPr>
              <a:t>.</a:t>
            </a:r>
            <a:endParaRPr sz="36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66000" y="4127500"/>
            <a:ext cx="3860800" cy="3543300"/>
            <a:chOff x="7366000" y="4127500"/>
            <a:chExt cx="3860800" cy="3543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66000" y="4127500"/>
              <a:ext cx="3860800" cy="3543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77200" y="6057900"/>
              <a:ext cx="330200" cy="203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34700" y="4813300"/>
              <a:ext cx="25400" cy="36830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47000" y="6261100"/>
            <a:ext cx="2514600" cy="571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0" y="4394200"/>
            <a:ext cx="1231900" cy="4191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2014200" y="4800600"/>
            <a:ext cx="889000" cy="749300"/>
            <a:chOff x="12014200" y="4800600"/>
            <a:chExt cx="889000" cy="7493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14200" y="4800600"/>
              <a:ext cx="889000" cy="4191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14200" y="5181600"/>
              <a:ext cx="800100" cy="3683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2065000" y="7340600"/>
            <a:ext cx="762000" cy="914400"/>
            <a:chOff x="12065000" y="7340600"/>
            <a:chExt cx="762000" cy="91440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65000" y="7708900"/>
              <a:ext cx="762000" cy="5461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65000" y="7340600"/>
              <a:ext cx="762000" cy="495300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95000" y="6045200"/>
            <a:ext cx="2032000" cy="9144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711" rIns="0" bIns="0" rtlCol="0">
            <a:spAutoFit/>
          </a:bodyPr>
          <a:lstStyle/>
          <a:p>
            <a:pPr marL="4267835">
              <a:lnSpc>
                <a:spcPct val="100000"/>
              </a:lnSpc>
              <a:spcBef>
                <a:spcPts val="125"/>
              </a:spcBef>
            </a:pPr>
            <a:r>
              <a:rPr sz="9750" spc="-165" baseline="1282" dirty="0">
                <a:solidFill>
                  <a:srgbClr val="262626"/>
                </a:solidFill>
                <a:latin typeface="Calibri"/>
                <a:cs typeface="Calibri"/>
              </a:rPr>
              <a:t>R</a:t>
            </a:r>
            <a:r>
              <a:rPr sz="6500" spc="-110" dirty="0">
                <a:solidFill>
                  <a:srgbClr val="262626"/>
                </a:solidFill>
                <a:latin typeface="Calibri"/>
                <a:cs typeface="Calibri"/>
              </a:rPr>
              <a:t>esults</a:t>
            </a:r>
            <a:r>
              <a:rPr sz="6500" spc="-110" dirty="0">
                <a:solidFill>
                  <a:srgbClr val="1C3D44"/>
                </a:solidFill>
                <a:latin typeface="Calibri"/>
                <a:cs typeface="Calibri"/>
              </a:rPr>
              <a:t>&amp;</a:t>
            </a:r>
            <a:r>
              <a:rPr sz="6500" spc="-385" dirty="0">
                <a:solidFill>
                  <a:srgbClr val="1C3D44"/>
                </a:solidFill>
                <a:latin typeface="Calibri"/>
                <a:cs typeface="Calibri"/>
              </a:rPr>
              <a:t> </a:t>
            </a:r>
            <a:r>
              <a:rPr sz="6500" spc="-370" dirty="0">
                <a:solidFill>
                  <a:srgbClr val="282828"/>
                </a:solidFill>
                <a:latin typeface="Calibri"/>
                <a:cs typeface="Calibri"/>
              </a:rPr>
              <a:t>Deliverables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1757" y="2668763"/>
            <a:ext cx="5384165" cy="5406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9530">
              <a:lnSpc>
                <a:spcPts val="4595"/>
              </a:lnSpc>
              <a:spcBef>
                <a:spcPts val="135"/>
              </a:spcBef>
            </a:pPr>
            <a:r>
              <a:rPr sz="4200" spc="-50" dirty="0">
                <a:solidFill>
                  <a:srgbClr val="508C85"/>
                </a:solidFill>
                <a:latin typeface="Calibri"/>
                <a:cs typeface="Calibri"/>
              </a:rPr>
              <a:t>Primary</a:t>
            </a:r>
            <a:r>
              <a:rPr sz="4200" spc="-160" dirty="0">
                <a:solidFill>
                  <a:srgbClr val="508C85"/>
                </a:solidFill>
                <a:latin typeface="Calibri"/>
                <a:cs typeface="Calibri"/>
              </a:rPr>
              <a:t> </a:t>
            </a:r>
            <a:r>
              <a:rPr sz="4200" spc="-30" dirty="0">
                <a:solidFill>
                  <a:srgbClr val="548C85"/>
                </a:solidFill>
                <a:latin typeface="Calibri"/>
                <a:cs typeface="Calibri"/>
              </a:rPr>
              <a:t>Deliverable:</a:t>
            </a:r>
            <a:endParaRPr sz="4200">
              <a:latin typeface="Calibri"/>
              <a:cs typeface="Calibri"/>
            </a:endParaRPr>
          </a:p>
          <a:p>
            <a:pPr marL="51435" marR="309880" indent="-4445">
              <a:lnSpc>
                <a:spcPct val="82900"/>
              </a:lnSpc>
              <a:spcBef>
                <a:spcPts val="415"/>
              </a:spcBef>
            </a:pPr>
            <a:r>
              <a:rPr sz="4200" spc="70" dirty="0">
                <a:latin typeface="Calibri"/>
                <a:cs typeface="Calibri"/>
              </a:rPr>
              <a:t>A</a:t>
            </a:r>
            <a:r>
              <a:rPr sz="4200" spc="-345" dirty="0">
                <a:latin typeface="Calibri"/>
                <a:cs typeface="Calibri"/>
              </a:rPr>
              <a:t> </a:t>
            </a:r>
            <a:r>
              <a:rPr sz="4200" spc="-170" dirty="0">
                <a:latin typeface="Calibri"/>
                <a:cs typeface="Calibri"/>
              </a:rPr>
              <a:t>comprehensive</a:t>
            </a:r>
            <a:r>
              <a:rPr sz="4200" spc="-35" dirty="0">
                <a:latin typeface="Calibri"/>
                <a:cs typeface="Calibri"/>
              </a:rPr>
              <a:t> </a:t>
            </a:r>
            <a:r>
              <a:rPr sz="4200" spc="-105" dirty="0">
                <a:latin typeface="Calibri"/>
                <a:cs typeface="Calibri"/>
              </a:rPr>
              <a:t>project </a:t>
            </a:r>
            <a:r>
              <a:rPr sz="4150" spc="-290" dirty="0">
                <a:latin typeface="Cambria"/>
                <a:cs typeface="Cambria"/>
              </a:rPr>
              <a:t>report</a:t>
            </a:r>
            <a:r>
              <a:rPr sz="4150" spc="30" dirty="0">
                <a:latin typeface="Cambria"/>
                <a:cs typeface="Cambria"/>
              </a:rPr>
              <a:t> </a:t>
            </a:r>
            <a:r>
              <a:rPr sz="4150" spc="-150" dirty="0">
                <a:latin typeface="Cambria"/>
                <a:cs typeface="Cambria"/>
              </a:rPr>
              <a:t>containing</a:t>
            </a:r>
            <a:r>
              <a:rPr sz="4150" spc="-30" dirty="0">
                <a:latin typeface="Cambria"/>
                <a:cs typeface="Cambria"/>
              </a:rPr>
              <a:t> </a:t>
            </a:r>
            <a:r>
              <a:rPr sz="4150" spc="-50" dirty="0">
                <a:latin typeface="Cambria"/>
                <a:cs typeface="Cambria"/>
              </a:rPr>
              <a:t>a </a:t>
            </a:r>
            <a:r>
              <a:rPr sz="4100" spc="-30" dirty="0">
                <a:latin typeface="Times New Roman"/>
                <a:cs typeface="Times New Roman"/>
              </a:rPr>
              <a:t>prioritized</a:t>
            </a:r>
            <a:r>
              <a:rPr sz="4100" spc="-165" dirty="0">
                <a:latin typeface="Times New Roman"/>
                <a:cs typeface="Times New Roman"/>
              </a:rPr>
              <a:t> </a:t>
            </a:r>
            <a:r>
              <a:rPr sz="4100" spc="-20" dirty="0">
                <a:latin typeface="Times New Roman"/>
                <a:cs typeface="Times New Roman"/>
              </a:rPr>
              <a:t>list</a:t>
            </a:r>
            <a:r>
              <a:rPr sz="4100" spc="-235" dirty="0">
                <a:latin typeface="Times New Roman"/>
                <a:cs typeface="Times New Roman"/>
              </a:rPr>
              <a:t> </a:t>
            </a:r>
            <a:r>
              <a:rPr sz="4100" spc="-285" dirty="0">
                <a:latin typeface="Times New Roman"/>
                <a:cs typeface="Times New Roman"/>
              </a:rPr>
              <a:t>of </a:t>
            </a:r>
            <a:r>
              <a:rPr sz="4100" spc="-10" dirty="0">
                <a:latin typeface="Times New Roman"/>
                <a:cs typeface="Times New Roman"/>
              </a:rPr>
              <a:t>candidate</a:t>
            </a:r>
            <a:r>
              <a:rPr sz="4100" spc="-200" dirty="0">
                <a:latin typeface="Times New Roman"/>
                <a:cs typeface="Times New Roman"/>
              </a:rPr>
              <a:t> </a:t>
            </a:r>
            <a:r>
              <a:rPr sz="4100" spc="-10" dirty="0">
                <a:latin typeface="Times New Roman"/>
                <a:cs typeface="Times New Roman"/>
              </a:rPr>
              <a:t>molecules.</a:t>
            </a:r>
            <a:endParaRPr sz="4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65"/>
              </a:spcBef>
            </a:pPr>
            <a:endParaRPr sz="4100">
              <a:latin typeface="Times New Roman"/>
              <a:cs typeface="Times New Roman"/>
            </a:endParaRPr>
          </a:p>
          <a:p>
            <a:pPr marL="35560">
              <a:lnSpc>
                <a:spcPts val="4785"/>
              </a:lnSpc>
            </a:pPr>
            <a:r>
              <a:rPr sz="4350" spc="-65" dirty="0">
                <a:solidFill>
                  <a:srgbClr val="52877E"/>
                </a:solidFill>
                <a:latin typeface="Calibri"/>
                <a:cs typeface="Calibri"/>
              </a:rPr>
              <a:t>Dissemination:</a:t>
            </a:r>
            <a:endParaRPr sz="4350">
              <a:latin typeface="Calibri"/>
              <a:cs typeface="Calibri"/>
            </a:endParaRPr>
          </a:p>
          <a:p>
            <a:pPr marL="12700">
              <a:lnSpc>
                <a:spcPts val="4130"/>
              </a:lnSpc>
            </a:pPr>
            <a:r>
              <a:rPr sz="4150" spc="-105" dirty="0">
                <a:latin typeface="Calibri"/>
                <a:cs typeface="Calibri"/>
              </a:rPr>
              <a:t>Report</a:t>
            </a:r>
            <a:r>
              <a:rPr sz="4150" spc="-125" dirty="0">
                <a:latin typeface="Calibri"/>
                <a:cs typeface="Calibri"/>
              </a:rPr>
              <a:t> </a:t>
            </a:r>
            <a:r>
              <a:rPr sz="4150" spc="-80" dirty="0">
                <a:latin typeface="Calibri"/>
                <a:cs typeface="Calibri"/>
              </a:rPr>
              <a:t>conversion</a:t>
            </a:r>
            <a:r>
              <a:rPr sz="4150" spc="-175" dirty="0">
                <a:latin typeface="Calibri"/>
                <a:cs typeface="Calibri"/>
              </a:rPr>
              <a:t> </a:t>
            </a:r>
            <a:r>
              <a:rPr sz="4150" spc="-20" dirty="0">
                <a:latin typeface="Calibri"/>
                <a:cs typeface="Calibri"/>
              </a:rPr>
              <a:t>int</a:t>
            </a:r>
            <a:r>
              <a:rPr sz="6225" spc="-30" baseline="-1338" dirty="0">
                <a:latin typeface="Calibri"/>
                <a:cs typeface="Calibri"/>
              </a:rPr>
              <a:t>o</a:t>
            </a:r>
            <a:endParaRPr sz="6225" baseline="-1338">
              <a:latin typeface="Calibri"/>
              <a:cs typeface="Calibri"/>
            </a:endParaRPr>
          </a:p>
          <a:p>
            <a:pPr marL="33020">
              <a:lnSpc>
                <a:spcPts val="4565"/>
              </a:lnSpc>
            </a:pPr>
            <a:r>
              <a:rPr sz="4150" dirty="0">
                <a:latin typeface="Calibri"/>
                <a:cs typeface="Calibri"/>
              </a:rPr>
              <a:t>a</a:t>
            </a:r>
            <a:r>
              <a:rPr sz="4150" spc="-350" dirty="0">
                <a:latin typeface="Calibri"/>
                <a:cs typeface="Calibri"/>
              </a:rPr>
              <a:t> </a:t>
            </a:r>
            <a:r>
              <a:rPr sz="4150" spc="-160" dirty="0">
                <a:latin typeface="Calibri"/>
                <a:cs typeface="Calibri"/>
              </a:rPr>
              <a:t>conference</a:t>
            </a:r>
            <a:r>
              <a:rPr sz="4150" spc="-30" dirty="0">
                <a:latin typeface="Calibri"/>
                <a:cs typeface="Calibri"/>
              </a:rPr>
              <a:t> </a:t>
            </a:r>
            <a:r>
              <a:rPr sz="4150" spc="-125" dirty="0">
                <a:latin typeface="Calibri"/>
                <a:cs typeface="Calibri"/>
              </a:rPr>
              <a:t>paper</a:t>
            </a:r>
            <a:r>
              <a:rPr sz="4150" spc="-85" dirty="0">
                <a:latin typeface="Calibri"/>
                <a:cs typeface="Calibri"/>
              </a:rPr>
              <a:t> </a:t>
            </a:r>
            <a:r>
              <a:rPr sz="4150" spc="-60" dirty="0">
                <a:latin typeface="Calibri"/>
                <a:cs typeface="Calibri"/>
              </a:rPr>
              <a:t>article.</a:t>
            </a:r>
            <a:endParaRPr sz="4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23969" y="2133600"/>
            <a:ext cx="7535545" cy="61298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375" dirty="0">
                <a:solidFill>
                  <a:srgbClr val="4D8982"/>
                </a:solidFill>
                <a:latin typeface="Calibri"/>
                <a:cs typeface="Calibri"/>
              </a:rPr>
              <a:t>Drug</a:t>
            </a:r>
            <a:r>
              <a:rPr sz="5000" spc="145" dirty="0">
                <a:solidFill>
                  <a:srgbClr val="4D8982"/>
                </a:solidFill>
                <a:latin typeface="Calibri"/>
                <a:cs typeface="Calibri"/>
              </a:rPr>
              <a:t> </a:t>
            </a:r>
            <a:r>
              <a:rPr sz="5000" spc="-375" dirty="0">
                <a:solidFill>
                  <a:srgbClr val="49837E"/>
                </a:solidFill>
                <a:latin typeface="Calibri"/>
                <a:cs typeface="Calibri"/>
              </a:rPr>
              <a:t>Candidate</a:t>
            </a:r>
            <a:r>
              <a:rPr sz="5000" spc="175" dirty="0">
                <a:solidFill>
                  <a:srgbClr val="49837E"/>
                </a:solidFill>
                <a:latin typeface="Calibri"/>
                <a:cs typeface="Calibri"/>
              </a:rPr>
              <a:t> </a:t>
            </a:r>
            <a:r>
              <a:rPr sz="5000" spc="-335" dirty="0">
                <a:solidFill>
                  <a:srgbClr val="4D8780"/>
                </a:solidFill>
                <a:latin typeface="Calibri"/>
                <a:cs typeface="Calibri"/>
              </a:rPr>
              <a:t>Data</a:t>
            </a:r>
            <a:r>
              <a:rPr sz="5000" spc="-35" dirty="0">
                <a:solidFill>
                  <a:srgbClr val="4D8780"/>
                </a:solidFill>
                <a:latin typeface="Calibri"/>
                <a:cs typeface="Calibri"/>
              </a:rPr>
              <a:t> </a:t>
            </a:r>
            <a:r>
              <a:rPr sz="5000" spc="-355" dirty="0">
                <a:solidFill>
                  <a:srgbClr val="528C82"/>
                </a:solidFill>
                <a:latin typeface="Calibri"/>
                <a:cs typeface="Calibri"/>
              </a:rPr>
              <a:t>Card</a:t>
            </a:r>
            <a:endParaRPr sz="5000" dirty="0">
              <a:latin typeface="Calibri"/>
              <a:cs typeface="Calibri"/>
            </a:endParaRPr>
          </a:p>
          <a:p>
            <a:pPr marL="3168015">
              <a:lnSpc>
                <a:spcPts val="4100"/>
              </a:lnSpc>
              <a:spcBef>
                <a:spcPts val="3200"/>
              </a:spcBef>
              <a:tabLst>
                <a:tab pos="4229100" algn="l"/>
              </a:tabLst>
            </a:pPr>
            <a:r>
              <a:rPr sz="3750" dirty="0">
                <a:solidFill>
                  <a:srgbClr val="4F827E"/>
                </a:solidFill>
                <a:latin typeface="Calibri"/>
                <a:cs typeface="Calibri"/>
              </a:rPr>
              <a:t>	</a:t>
            </a:r>
            <a:r>
              <a:rPr lang="en-US" sz="3750" spc="-459" dirty="0">
                <a:latin typeface="Calibri"/>
                <a:cs typeface="Calibri"/>
              </a:rPr>
              <a:t>ML</a:t>
            </a:r>
            <a:r>
              <a:rPr lang="en-US" sz="3750" spc="-220" dirty="0">
                <a:latin typeface="Calibri"/>
                <a:cs typeface="Calibri"/>
              </a:rPr>
              <a:t> </a:t>
            </a:r>
            <a:r>
              <a:rPr lang="en-US" sz="3750" spc="-320" dirty="0">
                <a:latin typeface="Calibri"/>
                <a:cs typeface="Calibri"/>
              </a:rPr>
              <a:t>Prediction</a:t>
            </a:r>
            <a:r>
              <a:rPr lang="en-US" sz="3750" spc="145" dirty="0">
                <a:latin typeface="Calibri"/>
                <a:cs typeface="Calibri"/>
              </a:rPr>
              <a:t> </a:t>
            </a:r>
            <a:r>
              <a:rPr lang="en-US" sz="3750" spc="-285" dirty="0">
                <a:latin typeface="Calibri"/>
                <a:cs typeface="Calibri"/>
              </a:rPr>
              <a:t>Score:</a:t>
            </a:r>
            <a:endParaRPr lang="en-US" sz="3750" dirty="0">
              <a:latin typeface="Calibri"/>
              <a:cs typeface="Calibri"/>
            </a:endParaRPr>
          </a:p>
          <a:p>
            <a:pPr marL="4251960">
              <a:lnSpc>
                <a:spcPts val="4220"/>
              </a:lnSpc>
            </a:pPr>
            <a:r>
              <a:rPr lang="en-US" sz="3850" spc="-350" dirty="0">
                <a:latin typeface="Calibri"/>
                <a:cs typeface="Calibri"/>
              </a:rPr>
              <a:t>0.96</a:t>
            </a:r>
            <a:endParaRPr lang="en-US" sz="3850" dirty="0">
              <a:latin typeface="Calibri"/>
              <a:cs typeface="Calibri"/>
            </a:endParaRPr>
          </a:p>
          <a:p>
            <a:pPr marL="4235450">
              <a:lnSpc>
                <a:spcPts val="4035"/>
              </a:lnSpc>
              <a:spcBef>
                <a:spcPts val="2030"/>
              </a:spcBef>
            </a:pPr>
            <a:r>
              <a:rPr lang="en-US" sz="3600" dirty="0"/>
              <a:t>Docking Score: -8.2 kcal/mol</a:t>
            </a:r>
          </a:p>
          <a:p>
            <a:pPr marL="4235450">
              <a:lnSpc>
                <a:spcPts val="4035"/>
              </a:lnSpc>
              <a:spcBef>
                <a:spcPts val="2030"/>
              </a:spcBef>
            </a:pPr>
            <a:r>
              <a:rPr sz="3650" spc="-470" dirty="0">
                <a:latin typeface="Calibri"/>
                <a:cs typeface="Calibri"/>
              </a:rPr>
              <a:t>ADMET</a:t>
            </a:r>
            <a:r>
              <a:rPr sz="3650" spc="-160" dirty="0">
                <a:latin typeface="Calibri"/>
                <a:cs typeface="Calibri"/>
              </a:rPr>
              <a:t> </a:t>
            </a:r>
            <a:r>
              <a:rPr sz="3650" spc="-105" dirty="0">
                <a:latin typeface="Calibri"/>
                <a:cs typeface="Calibri"/>
              </a:rPr>
              <a:t>Profile:</a:t>
            </a:r>
            <a:endParaRPr sz="3650" dirty="0">
              <a:latin typeface="Calibri"/>
              <a:cs typeface="Calibri"/>
            </a:endParaRPr>
          </a:p>
          <a:p>
            <a:pPr marL="4227195">
              <a:lnSpc>
                <a:spcPts val="4300"/>
              </a:lnSpc>
            </a:pPr>
            <a:r>
              <a:rPr sz="3950" spc="-420" dirty="0">
                <a:latin typeface="Calibri"/>
                <a:cs typeface="Calibri"/>
              </a:rPr>
              <a:t>Low</a:t>
            </a:r>
            <a:r>
              <a:rPr sz="3950" spc="85" dirty="0">
                <a:latin typeface="Calibri"/>
                <a:cs typeface="Calibri"/>
              </a:rPr>
              <a:t> </a:t>
            </a:r>
            <a:r>
              <a:rPr sz="3950" spc="-370" dirty="0">
                <a:latin typeface="Calibri"/>
                <a:cs typeface="Calibri"/>
              </a:rPr>
              <a:t>Toxicity</a:t>
            </a:r>
            <a:endParaRPr sz="3950" dirty="0">
              <a:latin typeface="Calibri"/>
              <a:cs typeface="Calibri"/>
            </a:endParaRPr>
          </a:p>
          <a:p>
            <a:pPr marL="4224655">
              <a:lnSpc>
                <a:spcPts val="3815"/>
              </a:lnSpc>
              <a:spcBef>
                <a:spcPts val="2310"/>
              </a:spcBef>
            </a:pPr>
            <a:r>
              <a:rPr lang="tr-TR" sz="3600" dirty="0"/>
              <a:t>MD </a:t>
            </a:r>
            <a:r>
              <a:rPr lang="tr-TR" sz="3600" dirty="0" err="1"/>
              <a:t>Stability</a:t>
            </a:r>
            <a:r>
              <a:rPr lang="tr-TR" sz="3600" dirty="0"/>
              <a:t>: </a:t>
            </a:r>
            <a:r>
              <a:rPr lang="tr-TR" sz="3600" dirty="0" err="1"/>
              <a:t>Stable</a:t>
            </a:r>
            <a:r>
              <a:rPr lang="tr-TR" sz="3600" dirty="0"/>
              <a:t> at 100ns</a:t>
            </a:r>
            <a:endParaRPr lang="tr-TR"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7DD03A-1541-9AE0-CEA0-D82E43EB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42" y="258535"/>
            <a:ext cx="15279714" cy="1069524"/>
          </a:xfrm>
        </p:spPr>
        <p:txBody>
          <a:bodyPr/>
          <a:lstStyle/>
          <a:p>
            <a:r>
              <a:rPr lang="tr-TR" dirty="0" err="1"/>
              <a:t>Future</a:t>
            </a:r>
            <a:r>
              <a:rPr lang="tr-TR" dirty="0"/>
              <a:t> </a:t>
            </a:r>
            <a:r>
              <a:rPr lang="tr-TR" dirty="0" err="1"/>
              <a:t>Plans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A2B56B-EFF5-183B-C177-1EC89D3AD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5036" y="2307519"/>
            <a:ext cx="15279714" cy="3839513"/>
          </a:xfrm>
        </p:spPr>
        <p:txBody>
          <a:bodyPr/>
          <a:lstStyle/>
          <a:p>
            <a:r>
              <a:rPr lang="en-US" dirty="0"/>
              <a:t>• </a:t>
            </a:r>
            <a:r>
              <a:rPr lang="en-US" sz="3200" b="1" dirty="0"/>
              <a:t>Conference Submission &amp; International Visibility:</a:t>
            </a:r>
            <a:r>
              <a:rPr lang="en-US" sz="2000" b="1" dirty="0"/>
              <a:t> </a:t>
            </a:r>
            <a:r>
              <a:rPr lang="en-US" sz="2800" dirty="0"/>
              <a:t>One of our immediate targets is to prepare an abstract based on our results for the </a:t>
            </a:r>
            <a:r>
              <a:rPr lang="en-US" sz="2800" u="sng" dirty="0"/>
              <a:t>ML4NGP (Machine Learning for Non-Globular Proteins) </a:t>
            </a:r>
            <a:r>
              <a:rPr lang="en-US" sz="2800" dirty="0"/>
              <a:t>COST Action conference. Since my advisor is an active working group member of this network, this will be a strategic opportunity to present our findings as a poster or oral presentation to an international audience</a:t>
            </a:r>
            <a:endParaRPr lang="tr-TR" sz="2800" dirty="0"/>
          </a:p>
          <a:p>
            <a:endParaRPr lang="tr-TR" dirty="0"/>
          </a:p>
          <a:p>
            <a:r>
              <a:rPr lang="en-US" dirty="0"/>
              <a:t>• </a:t>
            </a:r>
            <a:r>
              <a:rPr lang="en-US" sz="3200" b="1" dirty="0"/>
              <a:t>Web Visualization &amp; Data Sharing: </a:t>
            </a:r>
            <a:r>
              <a:rPr lang="en-US" sz="2800" dirty="0"/>
              <a:t>To increase the accessibility of our research, we plan to develop a web-based visualization platform. This tool will allow other researchers to interact with our 100 ns molecular dynamics results and explore the chemical properties of our identified hit molecules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3342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56650" y="2336800"/>
            <a:ext cx="0" cy="6134100"/>
          </a:xfrm>
          <a:custGeom>
            <a:avLst/>
            <a:gdLst/>
            <a:ahLst/>
            <a:cxnLst/>
            <a:rect l="l" t="t" r="r" b="b"/>
            <a:pathLst>
              <a:path h="6134100">
                <a:moveTo>
                  <a:pt x="0" y="6134100"/>
                </a:moveTo>
                <a:lnTo>
                  <a:pt x="0" y="0"/>
                </a:lnTo>
              </a:path>
            </a:pathLst>
          </a:custGeom>
          <a:ln w="38100">
            <a:solidFill>
              <a:srgbClr val="33525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77180">
              <a:lnSpc>
                <a:spcPct val="100000"/>
              </a:lnSpc>
              <a:spcBef>
                <a:spcPts val="95"/>
              </a:spcBef>
            </a:pPr>
            <a:r>
              <a:rPr spc="-1200" dirty="0">
                <a:solidFill>
                  <a:srgbClr val="282828"/>
                </a:solidFill>
              </a:rPr>
              <a:t>Key</a:t>
            </a:r>
            <a:r>
              <a:rPr spc="60" dirty="0">
                <a:solidFill>
                  <a:srgbClr val="282828"/>
                </a:solidFill>
              </a:rPr>
              <a:t> </a:t>
            </a:r>
            <a:r>
              <a:rPr spc="-605" dirty="0"/>
              <a:t>References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xfrm>
            <a:off x="972509" y="1915826"/>
            <a:ext cx="7546340" cy="566565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52425" marR="82550" indent="-340360">
              <a:lnSpc>
                <a:spcPts val="3750"/>
              </a:lnSpc>
              <a:spcBef>
                <a:spcPts val="780"/>
              </a:spcBef>
              <a:buChar char="•"/>
              <a:tabLst>
                <a:tab pos="352425" algn="l"/>
                <a:tab pos="354330" algn="l"/>
              </a:tabLst>
            </a:pPr>
            <a:r>
              <a:rPr lang="tr-TR" dirty="0"/>
              <a:t>Chen et al. (2024). Design of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specific</a:t>
            </a:r>
            <a:r>
              <a:rPr lang="tr-TR" dirty="0"/>
              <a:t> </a:t>
            </a:r>
            <a:r>
              <a:rPr lang="tr-TR" dirty="0" err="1"/>
              <a:t>peptide</a:t>
            </a:r>
            <a:r>
              <a:rPr lang="tr-TR" dirty="0"/>
              <a:t> </a:t>
            </a:r>
            <a:r>
              <a:rPr lang="tr-TR" dirty="0" err="1"/>
              <a:t>inhibitors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generative</a:t>
            </a:r>
            <a:r>
              <a:rPr lang="tr-TR" dirty="0"/>
              <a:t> </a:t>
            </a:r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. Nature Communications.</a:t>
            </a:r>
          </a:p>
          <a:p>
            <a:pPr marL="352425" marR="82550" indent="-340360">
              <a:lnSpc>
                <a:spcPts val="3750"/>
              </a:lnSpc>
              <a:spcBef>
                <a:spcPts val="780"/>
              </a:spcBef>
              <a:buChar char="•"/>
              <a:tabLst>
                <a:tab pos="352425" algn="l"/>
                <a:tab pos="354330" algn="l"/>
              </a:tabLst>
            </a:pPr>
            <a:r>
              <a:rPr lang="tr-TR" dirty="0" err="1"/>
              <a:t>Cui</a:t>
            </a:r>
            <a:r>
              <a:rPr lang="tr-TR" dirty="0"/>
              <a:t> et al. (2018). Is ẞ-</a:t>
            </a:r>
            <a:r>
              <a:rPr lang="tr-TR" dirty="0" err="1"/>
              <a:t>Catenin</a:t>
            </a:r>
            <a:r>
              <a:rPr lang="tr-TR" dirty="0"/>
              <a:t> a </a:t>
            </a:r>
            <a:r>
              <a:rPr lang="tr-TR" dirty="0" err="1"/>
              <a:t>Druggable</a:t>
            </a:r>
            <a:r>
              <a:rPr lang="tr-TR" dirty="0"/>
              <a:t> </a:t>
            </a:r>
            <a:r>
              <a:rPr lang="tr-TR" dirty="0" err="1"/>
              <a:t>Target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Cancer</a:t>
            </a:r>
            <a:r>
              <a:rPr lang="tr-TR" dirty="0"/>
              <a:t> </a:t>
            </a:r>
            <a:r>
              <a:rPr lang="tr-TR" dirty="0" err="1"/>
              <a:t>Therapy</a:t>
            </a:r>
            <a:r>
              <a:rPr lang="tr-TR" dirty="0"/>
              <a:t>? </a:t>
            </a:r>
            <a:r>
              <a:rPr lang="tr-TR" dirty="0" err="1"/>
              <a:t>Trends</a:t>
            </a:r>
            <a:r>
              <a:rPr lang="tr-TR" dirty="0"/>
              <a:t> in </a:t>
            </a:r>
            <a:r>
              <a:rPr lang="tr-TR" dirty="0" err="1"/>
              <a:t>Biochemical</a:t>
            </a:r>
            <a:r>
              <a:rPr lang="tr-TR" dirty="0"/>
              <a:t> </a:t>
            </a:r>
            <a:r>
              <a:rPr lang="tr-TR" dirty="0" err="1"/>
              <a:t>Sciences</a:t>
            </a:r>
            <a:r>
              <a:rPr lang="tr-TR" dirty="0"/>
              <a:t>.</a:t>
            </a:r>
          </a:p>
          <a:p>
            <a:pPr marL="352425" marR="82550" indent="-340360">
              <a:lnSpc>
                <a:spcPts val="3750"/>
              </a:lnSpc>
              <a:spcBef>
                <a:spcPts val="780"/>
              </a:spcBef>
              <a:buChar char="•"/>
              <a:tabLst>
                <a:tab pos="352425" algn="l"/>
                <a:tab pos="354330" algn="l"/>
              </a:tabLst>
            </a:pPr>
            <a:r>
              <a:rPr lang="tr-TR" dirty="0" err="1"/>
              <a:t>Karadkhelkar</a:t>
            </a:r>
            <a:r>
              <a:rPr lang="tr-TR" dirty="0"/>
              <a:t> et al. (2023). </a:t>
            </a:r>
            <a:r>
              <a:rPr lang="tr-TR" dirty="0" err="1"/>
              <a:t>Demystifying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Druggability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MYC </a:t>
            </a:r>
            <a:r>
              <a:rPr lang="tr-TR" dirty="0" err="1"/>
              <a:t>Family</a:t>
            </a:r>
            <a:r>
              <a:rPr lang="tr-TR" dirty="0"/>
              <a:t>. JACS.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sz="half" idx="3"/>
          </p:nvPr>
        </p:nvSpPr>
        <p:spPr>
          <a:xfrm>
            <a:off x="9096594" y="1788758"/>
            <a:ext cx="7514590" cy="723018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9090" marR="192405" indent="-327025">
              <a:lnSpc>
                <a:spcPts val="3750"/>
              </a:lnSpc>
              <a:spcBef>
                <a:spcPts val="780"/>
              </a:spcBef>
              <a:buFontTx/>
              <a:buChar char="•"/>
              <a:tabLst>
                <a:tab pos="339090" algn="l"/>
                <a:tab pos="360680" algn="l"/>
              </a:tabLst>
            </a:pPr>
            <a:r>
              <a:rPr lang="en-US" dirty="0" err="1"/>
              <a:t>Lehrich</a:t>
            </a:r>
            <a:r>
              <a:rPr lang="en-US" dirty="0"/>
              <a:t> et al. (2025).Precision targeting of ẞ-catenin induces tumor reprogramming. Nature Communications.</a:t>
            </a:r>
            <a:endParaRPr lang="tr-TR" dirty="0"/>
          </a:p>
          <a:p>
            <a:pPr marL="339090" marR="192405" indent="-327025">
              <a:lnSpc>
                <a:spcPts val="3750"/>
              </a:lnSpc>
              <a:spcBef>
                <a:spcPts val="780"/>
              </a:spcBef>
              <a:buChar char="•"/>
              <a:tabLst>
                <a:tab pos="339090" algn="l"/>
                <a:tab pos="360680" algn="l"/>
              </a:tabLst>
            </a:pPr>
            <a:r>
              <a:rPr lang="tr-TR" dirty="0" err="1"/>
              <a:t>Noor</a:t>
            </a:r>
            <a:r>
              <a:rPr lang="tr-TR" dirty="0"/>
              <a:t> et al. (2024). </a:t>
            </a:r>
            <a:r>
              <a:rPr lang="tr-TR" dirty="0" err="1"/>
              <a:t>Deep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 </a:t>
            </a:r>
            <a:r>
              <a:rPr lang="tr-TR" dirty="0" err="1"/>
              <a:t>pipeline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accelerating</a:t>
            </a:r>
            <a:r>
              <a:rPr lang="tr-TR" dirty="0"/>
              <a:t> </a:t>
            </a:r>
            <a:r>
              <a:rPr lang="tr-TR" dirty="0" err="1"/>
              <a:t>virtual</a:t>
            </a:r>
            <a:r>
              <a:rPr lang="tr-TR" dirty="0"/>
              <a:t> </a:t>
            </a:r>
            <a:r>
              <a:rPr lang="tr-TR" dirty="0" err="1"/>
              <a:t>screening</a:t>
            </a:r>
            <a:r>
              <a:rPr lang="tr-TR" dirty="0"/>
              <a:t>. </a:t>
            </a:r>
            <a:r>
              <a:rPr lang="tr-TR" dirty="0" err="1"/>
              <a:t>Scientific</a:t>
            </a:r>
            <a:r>
              <a:rPr lang="tr-TR" dirty="0"/>
              <a:t> </a:t>
            </a:r>
            <a:r>
              <a:rPr lang="tr-TR" dirty="0" err="1"/>
              <a:t>Reports</a:t>
            </a:r>
            <a:r>
              <a:rPr lang="tr-TR" dirty="0"/>
              <a:t>.</a:t>
            </a:r>
          </a:p>
          <a:p>
            <a:pPr marL="339090" marR="192405" indent="-327025">
              <a:lnSpc>
                <a:spcPts val="3750"/>
              </a:lnSpc>
              <a:spcBef>
                <a:spcPts val="780"/>
              </a:spcBef>
              <a:buChar char="•"/>
              <a:tabLst>
                <a:tab pos="339090" algn="l"/>
                <a:tab pos="360680" algn="l"/>
              </a:tabLst>
            </a:pPr>
            <a:r>
              <a:rPr lang="tr-TR" dirty="0"/>
              <a:t> </a:t>
            </a:r>
            <a:r>
              <a:rPr lang="tr-TR" dirty="0" err="1"/>
              <a:t>Sharma</a:t>
            </a:r>
            <a:r>
              <a:rPr lang="tr-TR" dirty="0"/>
              <a:t> &amp; </a:t>
            </a:r>
            <a:r>
              <a:rPr lang="tr-TR" dirty="0" err="1"/>
              <a:t>Arumugam</a:t>
            </a:r>
            <a:r>
              <a:rPr lang="tr-TR" dirty="0"/>
              <a:t> (2025). </a:t>
            </a:r>
            <a:r>
              <a:rPr lang="tr-TR" dirty="0" err="1"/>
              <a:t>MLAssisted</a:t>
            </a:r>
            <a:r>
              <a:rPr lang="tr-TR" dirty="0"/>
              <a:t> QSAR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tankyrase</a:t>
            </a:r>
            <a:r>
              <a:rPr lang="tr-TR" dirty="0"/>
              <a:t> </a:t>
            </a:r>
            <a:r>
              <a:rPr lang="tr-TR" dirty="0" err="1"/>
              <a:t>inhibitors</a:t>
            </a:r>
            <a:r>
              <a:rPr lang="tr-TR" dirty="0"/>
              <a:t>. </a:t>
            </a:r>
            <a:r>
              <a:rPr lang="tr-TR" dirty="0" err="1"/>
              <a:t>Computers</a:t>
            </a:r>
            <a:r>
              <a:rPr lang="tr-TR" dirty="0"/>
              <a:t> in </a:t>
            </a:r>
            <a:r>
              <a:rPr lang="tr-TR" dirty="0" err="1"/>
              <a:t>Biology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Medicine</a:t>
            </a:r>
            <a:r>
              <a:rPr lang="tr-TR" dirty="0"/>
              <a:t>.</a:t>
            </a:r>
          </a:p>
          <a:p>
            <a:pPr marL="339090" marR="192405" indent="-327025">
              <a:lnSpc>
                <a:spcPts val="3750"/>
              </a:lnSpc>
              <a:spcBef>
                <a:spcPts val="780"/>
              </a:spcBef>
              <a:buChar char="•"/>
              <a:tabLst>
                <a:tab pos="339090" algn="l"/>
                <a:tab pos="360680" algn="l"/>
              </a:tabLst>
            </a:pPr>
            <a:r>
              <a:rPr lang="tr-TR" dirty="0" err="1"/>
              <a:t>Vignaux</a:t>
            </a:r>
            <a:r>
              <a:rPr lang="tr-TR" dirty="0"/>
              <a:t> et al. (2020). Machine Learning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Discovery</a:t>
            </a:r>
            <a:r>
              <a:rPr lang="tr-TR" dirty="0"/>
              <a:t> of GSK3ẞ </a:t>
            </a:r>
            <a:r>
              <a:rPr lang="tr-TR" dirty="0" err="1"/>
              <a:t>Inhibitors</a:t>
            </a:r>
            <a:r>
              <a:rPr lang="tr-TR" dirty="0"/>
              <a:t>. ACS Omega.</a:t>
            </a:r>
            <a:endParaRPr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377F310-8BEB-ACC5-4178-2E7841A1B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418" y="1555609"/>
            <a:ext cx="15059252" cy="42200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11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5788" y="6159880"/>
            <a:ext cx="15059254" cy="26010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397502" y="3318644"/>
            <a:ext cx="78029" cy="5657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961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</TotalTime>
  <Words>1125</Words>
  <Application>Microsoft Office PowerPoint</Application>
  <PresentationFormat>Özel</PresentationFormat>
  <Paragraphs>186</Paragraphs>
  <Slides>16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3" baseType="lpstr">
      <vt:lpstr>Aptos</vt:lpstr>
      <vt:lpstr>Arial</vt:lpstr>
      <vt:lpstr>Arial MT</vt:lpstr>
      <vt:lpstr>Calibri</vt:lpstr>
      <vt:lpstr>Cambria</vt:lpstr>
      <vt:lpstr>Times New Roman</vt:lpstr>
      <vt:lpstr>Office Theme</vt:lpstr>
      <vt:lpstr>Computer Engineering Senior Design Project</vt:lpstr>
      <vt:lpstr>Summary</vt:lpstr>
      <vt:lpstr>Introduction: The ‘Undruggable’ Challenge</vt:lpstr>
      <vt:lpstr>Introduction: The Cancer Targets</vt:lpstr>
      <vt:lpstr>Research Question</vt:lpstr>
      <vt:lpstr>Hypothesis</vt:lpstr>
      <vt:lpstr>Concrete Objectives</vt:lpstr>
      <vt:lpstr>Methods: Workflow Overview Based on QSAR-ML workflows (Sharma &amp; Arumugam) and Bayesian ML (Vignaux et a1.)</vt:lpstr>
      <vt:lpstr>2.1 Data Collection and Preprocessing</vt:lpstr>
      <vt:lpstr>2.2 Machine Learning Model Development and Optimization</vt:lpstr>
      <vt:lpstr>2.3 Virtual Screening and Hit Molecule Identification</vt:lpstr>
      <vt:lpstr>2.4 Molecular Dynamics Simulations</vt:lpstr>
      <vt:lpstr>Results&amp; Deliverables</vt:lpstr>
      <vt:lpstr>Future Plans</vt:lpstr>
      <vt:lpstr>Key References</vt:lpstr>
      <vt:lpstr>Thanks..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yoruk beyza</dc:creator>
  <cp:lastModifiedBy>yoruk beyza</cp:lastModifiedBy>
  <cp:revision>9</cp:revision>
  <dcterms:created xsi:type="dcterms:W3CDTF">2026-01-12T09:13:58Z</dcterms:created>
  <dcterms:modified xsi:type="dcterms:W3CDTF">2026-01-12T16:49:20Z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2026-01-12T00:00:00Z</vt:filetime>
  </property>
  <property fmtid="{D5CDD505-2E9C-101B-9397-08002B2CF9AE}" pid="3" name="LastSaved">
    <vt:filetime>2026-01-12T00:00:00Z</vt:filetime>
  </property>
</Properties>
</file>