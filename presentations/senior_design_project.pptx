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3E46"/>
    <a:srgbClr val="353E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84934-061B-42C3-BACB-5264DAC27C45}" type="datetimeFigureOut">
              <a:rPr lang="tr-TR" smtClean="0"/>
              <a:t>18.04.2026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31748-82C1-48CA-A457-B6724E4D138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6723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31748-82C1-48CA-A457-B6724E4D138A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0775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316676" y="0"/>
            <a:ext cx="16889351" cy="91440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1CD55877-AF3C-057E-895C-4ACBA9E19B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008" y="533400"/>
            <a:ext cx="7868996" cy="8382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4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79A2162-E20B-EE38-2191-72CBCB2B36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004" y="7420411"/>
            <a:ext cx="883997" cy="1420491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02072DD6-A168-34E6-96F4-1FADCAB69D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008" y="1401175"/>
            <a:ext cx="78689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Machine Learning-Based Drug Repurposing Discovery for Non-Globular MYC and CTNNB1 Oncoproteins</a:t>
            </a:r>
            <a:r>
              <a:rPr lang="tr-TR" sz="3600" dirty="0">
                <a:solidFill>
                  <a:schemeClr val="bg1"/>
                </a:solidFill>
              </a:rPr>
              <a:t>  </a:t>
            </a:r>
          </a:p>
          <a:p>
            <a:pPr algn="ctr"/>
            <a:endParaRPr lang="tr-TR" sz="3600" dirty="0">
              <a:solidFill>
                <a:schemeClr val="bg1"/>
              </a:solidFill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B107A9E2-DE77-6A0A-186E-38308994910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8832" y="4262012"/>
            <a:ext cx="8234680" cy="135229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25"/>
              </a:spcBef>
            </a:pPr>
            <a:r>
              <a:rPr lang="en-US" sz="3100" spc="-130" dirty="0">
                <a:solidFill>
                  <a:srgbClr val="343434"/>
                </a:solidFill>
                <a:latin typeface="Cambria"/>
                <a:cs typeface="Cambria"/>
              </a:rPr>
              <a:t>Computer</a:t>
            </a:r>
            <a:r>
              <a:rPr lang="en-US" sz="3100" spc="-45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lang="en-US" sz="3100" i="1" spc="-40" dirty="0">
                <a:solidFill>
                  <a:srgbClr val="363636"/>
                </a:solidFill>
                <a:latin typeface="Cambria"/>
                <a:cs typeface="Cambria"/>
              </a:rPr>
              <a:t>Engineering</a:t>
            </a:r>
            <a:r>
              <a:rPr lang="en-US" sz="3100" i="1" spc="-55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lang="en-US" sz="3100" i="1" spc="-55" dirty="0">
                <a:solidFill>
                  <a:srgbClr val="383838"/>
                </a:solidFill>
                <a:latin typeface="Cambria"/>
                <a:cs typeface="Cambria"/>
              </a:rPr>
              <a:t>Senior</a:t>
            </a:r>
            <a:r>
              <a:rPr lang="en-US" sz="3100" i="1" spc="10" dirty="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lang="en-US" sz="3100" i="1" spc="-45" dirty="0">
                <a:solidFill>
                  <a:srgbClr val="363636"/>
                </a:solidFill>
                <a:latin typeface="Cambria"/>
                <a:cs typeface="Cambria"/>
              </a:rPr>
              <a:t>Design</a:t>
            </a:r>
            <a:r>
              <a:rPr lang="en-US" sz="3100" i="1" spc="-114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lang="en-US" sz="3100" i="1" spc="-75" dirty="0">
                <a:solidFill>
                  <a:srgbClr val="363636"/>
                </a:solidFill>
                <a:latin typeface="Cambria"/>
                <a:cs typeface="Cambria"/>
              </a:rPr>
              <a:t>Project</a:t>
            </a:r>
            <a:r>
              <a:rPr lang="tr-TR" sz="3100" i="1" spc="-75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lang="tr-TR" sz="2400" spc="-10" dirty="0">
                <a:latin typeface="Cambria"/>
                <a:cs typeface="Cambria"/>
              </a:rPr>
              <a:t>18.04.2026</a:t>
            </a:r>
            <a:endParaRPr lang="tr-TR" sz="3200" spc="-10" dirty="0">
              <a:latin typeface="Cambria"/>
              <a:cs typeface="Cambria"/>
            </a:endParaRPr>
          </a:p>
          <a:p>
            <a:pPr marL="12700">
              <a:spcBef>
                <a:spcPts val="125"/>
              </a:spcBef>
            </a:pPr>
            <a:endParaRPr lang="en-US" sz="31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3CD3D4-7214-DD23-ADD2-578B55E570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0763" y="5465309"/>
            <a:ext cx="7725305" cy="33010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560"/>
              </a:lnSpc>
              <a:spcBef>
                <a:spcPts val="125"/>
              </a:spcBef>
            </a:pPr>
            <a:r>
              <a:rPr lang="tr-TR" sz="2800" spc="-65" dirty="0">
                <a:highlight>
                  <a:srgbClr val="C0C0C0"/>
                </a:highlight>
                <a:latin typeface="Cambria"/>
                <a:cs typeface="Cambria"/>
              </a:rPr>
              <a:t>Author: </a:t>
            </a:r>
            <a:r>
              <a:rPr sz="2800" spc="-65" dirty="0">
                <a:highlight>
                  <a:srgbClr val="C0C0C0"/>
                </a:highlight>
                <a:latin typeface="Cambria"/>
                <a:cs typeface="Cambria"/>
              </a:rPr>
              <a:t>Beyza</a:t>
            </a:r>
            <a:r>
              <a:rPr sz="2800" spc="-95" dirty="0">
                <a:highlight>
                  <a:srgbClr val="C0C0C0"/>
                </a:highlight>
                <a:latin typeface="Cambria"/>
                <a:cs typeface="Cambria"/>
              </a:rPr>
              <a:t> </a:t>
            </a:r>
            <a:r>
              <a:rPr sz="2800" spc="-10" dirty="0">
                <a:highlight>
                  <a:srgbClr val="C0C0C0"/>
                </a:highlight>
                <a:latin typeface="Cambria"/>
                <a:cs typeface="Cambria"/>
              </a:rPr>
              <a:t>Yörük</a:t>
            </a:r>
            <a:endParaRPr lang="tr-TR" sz="2800" spc="-10" dirty="0">
              <a:highlight>
                <a:srgbClr val="C0C0C0"/>
              </a:highlight>
              <a:latin typeface="Cambria"/>
              <a:cs typeface="Cambria"/>
            </a:endParaRPr>
          </a:p>
          <a:p>
            <a:pPr marL="12700">
              <a:lnSpc>
                <a:spcPts val="3560"/>
              </a:lnSpc>
              <a:spcBef>
                <a:spcPts val="125"/>
              </a:spcBef>
            </a:pPr>
            <a:r>
              <a:rPr lang="tr-TR" sz="2000" dirty="0">
                <a:highlight>
                  <a:srgbClr val="C0C0C0"/>
                </a:highlight>
              </a:rPr>
              <a:t>beyzayoruk@posta.mu.edu.tr</a:t>
            </a:r>
            <a:endParaRPr lang="tr-TR" sz="2000" spc="-10" dirty="0">
              <a:highlight>
                <a:srgbClr val="C0C0C0"/>
              </a:highlight>
              <a:latin typeface="Cambria"/>
              <a:cs typeface="Cambria"/>
            </a:endParaRPr>
          </a:p>
          <a:p>
            <a:pPr marL="12700">
              <a:lnSpc>
                <a:spcPts val="3560"/>
              </a:lnSpc>
              <a:spcBef>
                <a:spcPts val="125"/>
              </a:spcBef>
            </a:pPr>
            <a:endParaRPr sz="2800" dirty="0">
              <a:highlight>
                <a:srgbClr val="C0C0C0"/>
              </a:highlight>
              <a:latin typeface="Cambria"/>
              <a:cs typeface="Cambria"/>
            </a:endParaRPr>
          </a:p>
          <a:p>
            <a:pPr marL="12700">
              <a:lnSpc>
                <a:spcPts val="3560"/>
              </a:lnSpc>
            </a:pPr>
            <a:r>
              <a:rPr sz="2800" spc="-75" dirty="0">
                <a:highlight>
                  <a:srgbClr val="C0C0C0"/>
                </a:highlight>
                <a:latin typeface="Cambria"/>
                <a:cs typeface="Cambria"/>
              </a:rPr>
              <a:t>Advisor:</a:t>
            </a:r>
            <a:r>
              <a:rPr sz="2800" spc="-100" dirty="0">
                <a:highlight>
                  <a:srgbClr val="C0C0C0"/>
                </a:highlight>
                <a:latin typeface="Cambria"/>
                <a:cs typeface="Cambria"/>
              </a:rPr>
              <a:t> </a:t>
            </a:r>
            <a:r>
              <a:rPr sz="2800" spc="-25" dirty="0">
                <a:highlight>
                  <a:srgbClr val="C0C0C0"/>
                </a:highlight>
                <a:latin typeface="Cambria"/>
                <a:cs typeface="Cambria"/>
              </a:rPr>
              <a:t>Assoc.</a:t>
            </a:r>
            <a:r>
              <a:rPr sz="2800" spc="-50" dirty="0">
                <a:highlight>
                  <a:srgbClr val="C0C0C0"/>
                </a:highlight>
                <a:latin typeface="Cambria"/>
                <a:cs typeface="Cambria"/>
              </a:rPr>
              <a:t> </a:t>
            </a:r>
            <a:r>
              <a:rPr sz="2800" spc="-45" dirty="0">
                <a:highlight>
                  <a:srgbClr val="C0C0C0"/>
                </a:highlight>
                <a:latin typeface="Cambria"/>
                <a:cs typeface="Cambria"/>
              </a:rPr>
              <a:t>Prof.</a:t>
            </a:r>
            <a:r>
              <a:rPr sz="2800" spc="-85" dirty="0">
                <a:highlight>
                  <a:srgbClr val="C0C0C0"/>
                </a:highlight>
                <a:latin typeface="Cambria"/>
                <a:cs typeface="Cambria"/>
              </a:rPr>
              <a:t> </a:t>
            </a:r>
            <a:r>
              <a:rPr sz="2800" spc="-30" dirty="0">
                <a:highlight>
                  <a:srgbClr val="C0C0C0"/>
                </a:highlight>
                <a:latin typeface="Cambria"/>
                <a:cs typeface="Cambria"/>
              </a:rPr>
              <a:t>Dr.</a:t>
            </a:r>
            <a:r>
              <a:rPr sz="2800" spc="-145" dirty="0">
                <a:highlight>
                  <a:srgbClr val="C0C0C0"/>
                </a:highlight>
                <a:latin typeface="Cambria"/>
                <a:cs typeface="Cambria"/>
              </a:rPr>
              <a:t> </a:t>
            </a:r>
            <a:r>
              <a:rPr sz="2800" spc="-70" dirty="0">
                <a:highlight>
                  <a:srgbClr val="C0C0C0"/>
                </a:highlight>
                <a:latin typeface="Cambria"/>
                <a:cs typeface="Cambria"/>
              </a:rPr>
              <a:t>Tugba</a:t>
            </a:r>
            <a:r>
              <a:rPr sz="2800" spc="-100" dirty="0">
                <a:highlight>
                  <a:srgbClr val="C0C0C0"/>
                </a:highlight>
                <a:latin typeface="Cambria"/>
                <a:cs typeface="Cambria"/>
              </a:rPr>
              <a:t> </a:t>
            </a:r>
            <a:r>
              <a:rPr sz="2800" spc="-60" dirty="0">
                <a:highlight>
                  <a:srgbClr val="C0C0C0"/>
                </a:highlight>
                <a:latin typeface="Cambria"/>
                <a:cs typeface="Cambria"/>
              </a:rPr>
              <a:t>Önal</a:t>
            </a:r>
            <a:r>
              <a:rPr sz="2800" spc="-110" dirty="0">
                <a:highlight>
                  <a:srgbClr val="C0C0C0"/>
                </a:highlight>
                <a:latin typeface="Cambria"/>
                <a:cs typeface="Cambria"/>
              </a:rPr>
              <a:t> </a:t>
            </a:r>
            <a:r>
              <a:rPr sz="2800" spc="-10" dirty="0">
                <a:highlight>
                  <a:srgbClr val="C0C0C0"/>
                </a:highlight>
                <a:latin typeface="Cambria"/>
                <a:cs typeface="Cambria"/>
              </a:rPr>
              <a:t>SÜZEK</a:t>
            </a:r>
            <a:endParaRPr lang="tr-TR" sz="2800" spc="-10" dirty="0">
              <a:highlight>
                <a:srgbClr val="C0C0C0"/>
              </a:highlight>
              <a:latin typeface="Cambria"/>
              <a:cs typeface="Cambria"/>
            </a:endParaRPr>
          </a:p>
          <a:p>
            <a:r>
              <a:rPr lang="en-US" sz="3200" dirty="0">
                <a:highlight>
                  <a:srgbClr val="C0C0C0"/>
                </a:highlight>
              </a:rPr>
              <a:t>Muğla Sıtkı Koçman University</a:t>
            </a:r>
          </a:p>
          <a:p>
            <a:r>
              <a:rPr lang="en-US" sz="3200" dirty="0">
                <a:highlight>
                  <a:srgbClr val="C0C0C0"/>
                </a:highlight>
              </a:rPr>
              <a:t>Department of Computer Engineering </a:t>
            </a:r>
          </a:p>
          <a:p>
            <a:pPr marL="12700">
              <a:lnSpc>
                <a:spcPts val="3560"/>
              </a:lnSpc>
            </a:pPr>
            <a:endParaRPr sz="2800" dirty="0">
              <a:highlight>
                <a:srgbClr val="C0C0C0"/>
              </a:highlight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E4920-D2A5-C79E-201A-AD362E4DD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19C8DAC-17AF-08A8-4D54-893ADA7B29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316676" y="0"/>
            <a:ext cx="16889351" cy="91440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A6663C40-D46E-DED5-1EED-3D6E9CF1E6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67668" y="304800"/>
            <a:ext cx="16523668" cy="8686800"/>
          </a:xfrm>
          <a:prstGeom prst="rect">
            <a:avLst/>
          </a:prstGeom>
          <a:solidFill>
            <a:srgbClr val="343E46"/>
          </a:solidFill>
          <a:ln>
            <a:solidFill>
              <a:srgbClr val="353E47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40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ED1DDDC-4BA8-F0D3-1EC5-F1F4984E2A3C}"/>
              </a:ext>
            </a:extLst>
          </p:cNvPr>
          <p:cNvSpPr txBox="1"/>
          <p:nvPr/>
        </p:nvSpPr>
        <p:spPr>
          <a:xfrm>
            <a:off x="1117600" y="609600"/>
            <a:ext cx="13411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800" dirty="0">
                <a:solidFill>
                  <a:schemeClr val="bg1"/>
                </a:solidFill>
              </a:rPr>
              <a:t>Market &amp; </a:t>
            </a:r>
            <a:r>
              <a:rPr lang="tr-TR" sz="4800" dirty="0" err="1">
                <a:solidFill>
                  <a:schemeClr val="bg1"/>
                </a:solidFill>
              </a:rPr>
              <a:t>Target</a:t>
            </a:r>
            <a:r>
              <a:rPr lang="tr-TR" sz="4800" dirty="0">
                <a:solidFill>
                  <a:schemeClr val="bg1"/>
                </a:solidFill>
              </a:rPr>
              <a:t> </a:t>
            </a:r>
            <a:r>
              <a:rPr lang="tr-TR" sz="4800" dirty="0" err="1">
                <a:solidFill>
                  <a:schemeClr val="bg1"/>
                </a:solidFill>
              </a:rPr>
              <a:t>Audience</a:t>
            </a:r>
            <a:endParaRPr lang="tr-TR" sz="4800" dirty="0">
              <a:solidFill>
                <a:schemeClr val="bg1"/>
              </a:solidFill>
            </a:endParaRPr>
          </a:p>
          <a:p>
            <a:pPr algn="ctr"/>
            <a:endParaRPr lang="tr-TR" sz="4800" dirty="0">
              <a:solidFill>
                <a:schemeClr val="bg1"/>
              </a:solidFill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73FC78E6-5223-436F-763E-FF0888BFC496}"/>
              </a:ext>
            </a:extLst>
          </p:cNvPr>
          <p:cNvSpPr txBox="1"/>
          <p:nvPr/>
        </p:nvSpPr>
        <p:spPr>
          <a:xfrm>
            <a:off x="508000" y="2479706"/>
            <a:ext cx="149352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>
                <a:solidFill>
                  <a:schemeClr val="bg1"/>
                </a:solidFill>
              </a:rPr>
              <a:t>* </a:t>
            </a:r>
            <a:r>
              <a:rPr lang="en-US" sz="2800" b="1" dirty="0">
                <a:solidFill>
                  <a:schemeClr val="bg1"/>
                </a:solidFill>
              </a:rPr>
              <a:t>Unlocking the 'Undruggable' Oncology Market</a:t>
            </a:r>
            <a:endParaRPr lang="tr-TR" sz="2800" b="1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The Problem:</a:t>
            </a:r>
            <a:r>
              <a:rPr lang="en-US" sz="2800" dirty="0">
                <a:solidFill>
                  <a:schemeClr val="bg1"/>
                </a:solidFill>
              </a:rPr>
              <a:t> Over 70% of cancers involve MYC or CTNNB1, yet they remain "undruggable" due to their disordered structures.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The Solution:</a:t>
            </a:r>
            <a:r>
              <a:rPr lang="en-US" sz="2800" dirty="0">
                <a:solidFill>
                  <a:schemeClr val="bg1"/>
                </a:solidFill>
              </a:rPr>
              <a:t> An AI-driven pipeline that decodes these targets to identify high-affinity leads from 119 million compounds.</a:t>
            </a:r>
            <a:endParaRPr lang="tr-TR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Target Audience:</a:t>
            </a:r>
            <a:endParaRPr lang="en-US" sz="2800" dirty="0">
              <a:solidFill>
                <a:schemeClr val="bg1"/>
              </a:solidFill>
            </a:endParaRPr>
          </a:p>
          <a:p>
            <a:pPr lvl="1"/>
            <a:r>
              <a:rPr lang="en-US" sz="2800" b="1" dirty="0">
                <a:solidFill>
                  <a:schemeClr val="bg1"/>
                </a:solidFill>
              </a:rPr>
              <a:t>Big Pharma:</a:t>
            </a:r>
            <a:r>
              <a:rPr lang="en-US" sz="2800" dirty="0">
                <a:solidFill>
                  <a:schemeClr val="bg1"/>
                </a:solidFill>
              </a:rPr>
              <a:t> Filling oncology pipelines with novel, first-in-class inhibitors.</a:t>
            </a:r>
          </a:p>
          <a:p>
            <a:pPr lvl="1"/>
            <a:r>
              <a:rPr lang="en-US" sz="2800" b="1" dirty="0">
                <a:solidFill>
                  <a:schemeClr val="bg1"/>
                </a:solidFill>
              </a:rPr>
              <a:t>Biotech Hubs:</a:t>
            </a:r>
            <a:r>
              <a:rPr lang="en-US" sz="2800" dirty="0">
                <a:solidFill>
                  <a:schemeClr val="bg1"/>
                </a:solidFill>
              </a:rPr>
              <a:t> Accelerating R&amp;D for intrinsically disordered protein (IDP) therapies.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Value Proposition:</a:t>
            </a:r>
            <a:r>
              <a:rPr lang="en-US" sz="2800" dirty="0">
                <a:solidFill>
                  <a:schemeClr val="bg1"/>
                </a:solidFill>
              </a:rPr>
              <a:t> Reducing initial screening costs by </a:t>
            </a:r>
            <a:r>
              <a:rPr lang="en-US" sz="2800" b="1" dirty="0">
                <a:solidFill>
                  <a:schemeClr val="bg1"/>
                </a:solidFill>
              </a:rPr>
              <a:t>99%</a:t>
            </a:r>
            <a:r>
              <a:rPr lang="en-US" sz="2800" dirty="0">
                <a:solidFill>
                  <a:schemeClr val="bg1"/>
                </a:solidFill>
              </a:rPr>
              <a:t> while providing structurally validated, diverse drug candidates.</a:t>
            </a:r>
          </a:p>
          <a:p>
            <a:endParaRPr lang="tr-T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839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248314" y="-152399"/>
            <a:ext cx="17102477" cy="92593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406400" y="0"/>
            <a:ext cx="16818978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211117" y="32657"/>
            <a:ext cx="16678234" cy="9029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281489" y="0"/>
            <a:ext cx="16818978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320656" y="0"/>
            <a:ext cx="16901414" cy="9150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-319775" y="0"/>
            <a:ext cx="17036857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101600" y="38100"/>
            <a:ext cx="16818978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177800" y="38100"/>
            <a:ext cx="16818978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-125" t="-2941" r="125" b="2941"/>
          <a:stretch>
            <a:fillRect/>
          </a:stretch>
        </p:blipFill>
        <p:spPr>
          <a:xfrm>
            <a:off x="-341513" y="-201454"/>
            <a:ext cx="16699113" cy="93149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140745" y="0"/>
            <a:ext cx="16537489" cy="895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29754" y="0"/>
            <a:ext cx="16818978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r="781" b="2941"/>
          <a:stretch>
            <a:fillRect/>
          </a:stretch>
        </p:blipFill>
        <p:spPr>
          <a:xfrm>
            <a:off x="-76145" y="190500"/>
            <a:ext cx="16408290" cy="895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B0C42A6B-CE78-153F-E7A1-5C2C07A44F6A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343E4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31D24B9-2785-51E6-0EA2-A1DA3F7A3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5290800" cy="8335962"/>
          </a:xfrm>
        </p:spPr>
        <p:txBody>
          <a:bodyPr>
            <a:normAutofit/>
          </a:bodyPr>
          <a:lstStyle/>
          <a:p>
            <a:r>
              <a:rPr lang="tr-TR" sz="6600" dirty="0">
                <a:solidFill>
                  <a:schemeClr val="bg1"/>
                </a:solidFill>
              </a:rPr>
              <a:t>THANKS ..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FDA378A-C634-37CB-8FA1-7F6A97589BAD}"/>
              </a:ext>
            </a:extLst>
          </p:cNvPr>
          <p:cNvSpPr txBox="1"/>
          <p:nvPr/>
        </p:nvSpPr>
        <p:spPr>
          <a:xfrm>
            <a:off x="457200" y="6363831"/>
            <a:ext cx="12877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Explore the Results: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Portal: http://172.16.10.190:8502</a:t>
            </a:r>
          </a:p>
          <a:p>
            <a:r>
              <a:rPr lang="en-US" sz="2400" dirty="0">
                <a:solidFill>
                  <a:schemeClr val="bg1"/>
                </a:solidFill>
              </a:rPr>
              <a:t>Access: The portal is currently hosted on the university's research server for data security. </a:t>
            </a:r>
            <a:r>
              <a:rPr lang="tr-TR" sz="2400" dirty="0">
                <a:solidFill>
                  <a:schemeClr val="bg1"/>
                </a:solidFill>
              </a:rPr>
              <a:t>(</a:t>
            </a:r>
            <a:r>
              <a:rPr lang="en-US" sz="2400" dirty="0">
                <a:solidFill>
                  <a:schemeClr val="bg1"/>
                </a:solidFill>
              </a:rPr>
              <a:t> Accessible via MSKU Campus Network.</a:t>
            </a:r>
            <a:r>
              <a:rPr lang="tr-TR" sz="2400" dirty="0">
                <a:solidFill>
                  <a:schemeClr val="bg1"/>
                </a:solidFill>
              </a:rPr>
              <a:t>)</a:t>
            </a:r>
            <a:endParaRPr lang="en-US" sz="2400" dirty="0">
              <a:solidFill>
                <a:schemeClr val="bg1"/>
              </a:solidFill>
            </a:endParaRPr>
          </a:p>
          <a:p>
            <a:endParaRPr lang="tr-T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326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D82B90-E485-45C7-A1AD-1212C29DEBAC}">
  <we:reference id="wa200005566" version="3.0.0.3" store="tr-TR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190</Words>
  <Application>Microsoft Office PowerPoint</Application>
  <PresentationFormat>Özel</PresentationFormat>
  <Paragraphs>23</Paragraphs>
  <Slides>17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THANKS 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yoruk beyza</dc:creator>
  <cp:lastModifiedBy>yoruk beyza</cp:lastModifiedBy>
  <cp:revision>9</cp:revision>
  <dcterms:created xsi:type="dcterms:W3CDTF">2006-08-16T00:00:00Z</dcterms:created>
  <dcterms:modified xsi:type="dcterms:W3CDTF">2026-04-18T10:22:51Z</dcterms:modified>
</cp:coreProperties>
</file>